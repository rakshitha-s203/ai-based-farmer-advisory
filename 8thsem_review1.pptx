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69" r:id="rId6"/>
    <p:sldId id="284" r:id="rId7"/>
    <p:sldId id="280" r:id="rId8"/>
    <p:sldId id="281" r:id="rId9"/>
    <p:sldId id="285" r:id="rId10"/>
    <p:sldId id="294" r:id="rId11"/>
    <p:sldId id="286" r:id="rId12"/>
    <p:sldId id="287" r:id="rId13"/>
    <p:sldId id="265" r:id="rId14"/>
    <p:sldId id="26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0E62"/>
    <a:srgbClr val="4A224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63"/>
    <p:restoredTop sz="94632"/>
  </p:normalViewPr>
  <p:slideViewPr>
    <p:cSldViewPr snapToGrid="0">
      <p:cViewPr>
        <p:scale>
          <a:sx n="103" d="100"/>
          <a:sy n="103" d="100"/>
        </p:scale>
        <p:origin x="1400" y="2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1"/>
          </p:nvPr>
        </p:nvSpPr>
        <p:spPr/>
        <p:txBody>
          <a:bodyPr/>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sz="2400" dirty="0">
                <a:solidFill>
                  <a:schemeClr val="tx1"/>
                </a:solidFill>
                <a:latin typeface="Cambria" panose="02040503050406030204" pitchFamily="18" charset="0"/>
                <a:ea typeface="Cambria" panose="02040503050406030204" pitchFamily="18" charset="0"/>
              </a:rPr>
              <a:t>SIH25076 — AI-Based Farmer Query Support and Advisory System</a:t>
            </a:r>
            <a:endParaRPr lang="en-US"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GB" sz="1800" dirty="0">
                <a:latin typeface="Cambria" panose="02040503050406030204" pitchFamily="18" charset="0"/>
                <a:ea typeface="Cambria" panose="02040503050406030204" pitchFamily="18" charset="0"/>
              </a:rPr>
              <a:t>Batch Number:</a:t>
            </a:r>
            <a:r>
              <a:rPr lang="en-US" sz="1800" b="0" dirty="0"/>
              <a:t>CIT_06 </a:t>
            </a:r>
            <a:endParaRPr sz="1800" b="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US" alt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a:t>
            </a: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lvl="0">
              <a:spcBef>
                <a:spcPts val="340"/>
              </a:spcBef>
              <a:buClr>
                <a:srgbClr val="17365D"/>
              </a:buClr>
              <a:buSzPts val="1700"/>
            </a:pPr>
            <a:r>
              <a:rPr lang="en-GB" sz="1700" b="1" i="0" u="none" strike="noStrike" cap="none" dirty="0">
                <a:solidFill>
                  <a:srgbClr val="002060"/>
                </a:solidFill>
                <a:latin typeface="Cambria" panose="02040503050406030204" pitchFamily="18" charset="0"/>
                <a:ea typeface="Cambria" panose="02040503050406030204" pitchFamily="18" charset="0"/>
                <a:cs typeface="Verdana" panose="020B0604030504040204"/>
                <a:sym typeface="Verdana" panose="020B0604030504040204"/>
              </a:rPr>
              <a:t>                              </a:t>
            </a:r>
            <a:r>
              <a:rPr lang="en-GB" sz="1800" b="1" i="0" u="none" strike="noStrike" cap="none" dirty="0">
                <a:solidFill>
                  <a:srgbClr val="002060"/>
                </a:solidFill>
                <a:latin typeface="Cambria" panose="02040503050406030204" pitchFamily="18" charset="0"/>
                <a:ea typeface="Cambria" panose="02040503050406030204" pitchFamily="18" charset="0"/>
                <a:cs typeface="Verdana" panose="020B0604030504040204"/>
                <a:sym typeface="Verdana" panose="020B0604030504040204"/>
              </a:rPr>
              <a:t> </a:t>
            </a:r>
            <a:r>
              <a:rPr sz="1800" b="1" i="0" u="none" strike="noStrike" cap="none">
                <a:solidFill>
                  <a:srgbClr val="002060"/>
                </a:solidFill>
              </a:rPr>
              <a:t>Dr. MananKumar Gupta</a:t>
            </a:r>
            <a:r>
              <a:rPr lang="en-US" sz="1600" b="1" dirty="0">
                <a:solidFill>
                  <a:srgbClr val="002060"/>
                </a:solidFill>
              </a:rPr>
              <a:t>,</a:t>
            </a:r>
            <a:endParaRPr lang="en-US" sz="1600" b="1" dirty="0">
              <a:solidFill>
                <a:srgbClr val="002060"/>
              </a:solidFill>
            </a:endParaRPr>
          </a:p>
          <a:p>
            <a:pPr lvl="0">
              <a:spcBef>
                <a:spcPts val="340"/>
              </a:spcBef>
              <a:buClr>
                <a:srgbClr val="17365D"/>
              </a:buClr>
              <a:buSzPts val="1700"/>
            </a:pPr>
            <a:r>
              <a:rPr lang="en-GB" sz="1700" b="1" i="0" u="none" strike="noStrike" cap="none" dirty="0">
                <a:solidFill>
                  <a:srgbClr val="002060"/>
                </a:solidFill>
                <a:latin typeface="Cambria" panose="02040503050406030204" pitchFamily="18" charset="0"/>
                <a:ea typeface="Cambria" panose="02040503050406030204" pitchFamily="18" charset="0"/>
                <a:cs typeface="Verdana" panose="020B0604030504040204"/>
                <a:sym typeface="Verdana" panose="020B0604030504040204"/>
              </a:rPr>
              <a:t>                                    Assistant Professor</a:t>
            </a:r>
            <a:endParaRPr b="1" dirty="0">
              <a:solidFill>
                <a:srgbClr val="002060"/>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002060"/>
                </a:solidFill>
                <a:latin typeface="Cambria" panose="02040503050406030204" pitchFamily="18" charset="0"/>
                <a:ea typeface="Cambria" panose="02040503050406030204" pitchFamily="18" charset="0"/>
                <a:cs typeface="Verdana" panose="020B0604030504040204"/>
                <a:sym typeface="Verdana" panose="020B0604030504040204"/>
              </a:rPr>
              <a:t>         School of Computer Science and Engineering,</a:t>
            </a:r>
            <a:endParaRPr b="1" dirty="0">
              <a:solidFill>
                <a:srgbClr val="002060"/>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002060"/>
                </a:solidFill>
                <a:latin typeface="Cambria" panose="02040503050406030204" pitchFamily="18" charset="0"/>
                <a:ea typeface="Cambria" panose="02040503050406030204" pitchFamily="18" charset="0"/>
                <a:cs typeface="Verdana" panose="020B0604030504040204"/>
                <a:sym typeface="Verdana" panose="020B0604030504040204"/>
              </a:rPr>
              <a:t>                                  Presidency University</a:t>
            </a:r>
            <a:endParaRPr b="1" dirty="0">
              <a:solidFill>
                <a:srgbClr val="002060"/>
              </a:solidFill>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r>
              <a:rPr lang="en-US"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a:t>
            </a: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89" name="Google Shape;89;p13"/>
          <p:cNvGraphicFramePr/>
          <p:nvPr/>
        </p:nvGraphicFramePr>
        <p:xfrm>
          <a:off x="553085" y="2721610"/>
          <a:ext cx="5394960" cy="2743200"/>
        </p:xfrm>
        <a:graphic>
          <a:graphicData uri="http://schemas.openxmlformats.org/drawingml/2006/table">
            <a:tbl>
              <a:tblPr firstRow="1" bandRow="1">
                <a:noFill/>
                <a:tableStyleId>{57690726-49DA-4552-BDEB-330DD8EA8BD9}</a:tableStyleId>
              </a:tblPr>
              <a:tblGrid>
                <a:gridCol w="2075815"/>
                <a:gridCol w="3319145"/>
              </a:tblGrid>
              <a:tr h="365760">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lang="en-GB"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914400">
                <a:tc>
                  <a:txBody>
                    <a:bodyPr/>
                    <a:lstStyle/>
                    <a:p>
                      <a:pPr marL="0" marR="0" lvl="0" indent="0" algn="ctr" rtl="0">
                        <a:spcBef>
                          <a:spcPts val="0"/>
                        </a:spcBef>
                        <a:spcAft>
                          <a:spcPts val="0"/>
                        </a:spcAft>
                        <a:buFont typeface="+mj-lt"/>
                        <a:buNone/>
                      </a:pPr>
                      <a:r>
                        <a:rPr lang="en-US" sz="1800" u="none" strike="noStrike" cap="none" dirty="0"/>
                        <a:t>20221CIT0075        </a:t>
                      </a:r>
                      <a:endParaRPr lang="en-US" sz="1800" u="none" strike="noStrike" cap="none" dirty="0"/>
                    </a:p>
                    <a:p>
                      <a:pPr marL="0" marR="0" lvl="0" indent="0" algn="ctr" rtl="0">
                        <a:spcBef>
                          <a:spcPts val="0"/>
                        </a:spcBef>
                        <a:spcAft>
                          <a:spcPts val="0"/>
                        </a:spcAft>
                        <a:buFont typeface="+mj-lt"/>
                        <a:buNone/>
                      </a:pPr>
                      <a:r>
                        <a:rPr lang="en-US" sz="1800" u="none" strike="noStrike" cap="none" dirty="0"/>
                        <a:t>20221CIT0081</a:t>
                      </a:r>
                      <a:endParaRPr lang="en-US" sz="1800" u="none" strike="noStrike" cap="none" dirty="0"/>
                    </a:p>
                    <a:p>
                      <a:pPr marL="0" marR="0" lvl="0" indent="0" algn="ctr" rtl="0">
                        <a:spcBef>
                          <a:spcPts val="0"/>
                        </a:spcBef>
                        <a:spcAft>
                          <a:spcPts val="0"/>
                        </a:spcAft>
                        <a:buFont typeface="+mj-lt"/>
                        <a:buNone/>
                      </a:pPr>
                      <a:r>
                        <a:rPr lang="en-US" sz="1800" u="none" strike="noStrike" cap="none" dirty="0"/>
                        <a:t>20221CIT0088</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CHAITHANYA D S</a:t>
                      </a:r>
                      <a:endParaRPr lang="en-US" sz="1800" u="none" strike="noStrike" cap="none" dirty="0"/>
                    </a:p>
                    <a:p>
                      <a:pPr marL="0" marR="0" lvl="0" indent="0" algn="ctr" rtl="0">
                        <a:spcBef>
                          <a:spcPts val="0"/>
                        </a:spcBef>
                        <a:spcAft>
                          <a:spcPts val="0"/>
                        </a:spcAft>
                        <a:buNone/>
                      </a:pPr>
                      <a:r>
                        <a:rPr lang="en-US" sz="1800" u="none" strike="noStrike" cap="none" dirty="0"/>
                        <a:t>RAKSHITHA S</a:t>
                      </a:r>
                      <a:endParaRPr lang="en-US" sz="1800" u="none" strike="noStrike" cap="none" dirty="0"/>
                    </a:p>
                    <a:p>
                      <a:pPr marL="0" marR="0" lvl="0" indent="0" algn="ctr" rtl="0">
                        <a:spcBef>
                          <a:spcPts val="0"/>
                        </a:spcBef>
                        <a:spcAft>
                          <a:spcPts val="0"/>
                        </a:spcAft>
                        <a:buNone/>
                      </a:pPr>
                      <a:r>
                        <a:rPr lang="en-US" sz="1800" u="none" strike="noStrike" cap="none" dirty="0"/>
                        <a:t>VIJAYLAXMI KOUTANALI  </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6576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6576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6576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6576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CSE7302-</a:t>
            </a: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UNIVERSITY PROJECT</a:t>
            </a:r>
            <a:endPar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a:t>
            </a:r>
            <a:r>
              <a:rPr lang="en-US" alt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a:t>
            </a: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t>
            </a:r>
            <a:r>
              <a:rPr lang="en-US" alt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1</a:t>
            </a:r>
            <a:endParaRPr lang="en-US" alt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28958" y="468405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Computer Science and Engineering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Specialised</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with Internet of Things</a:t>
            </a: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Shanthi Pichandi Anandaraj</a:t>
            </a:r>
            <a:endPar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 </a:t>
            </a: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a:t>
            </a:r>
            <a:r>
              <a:rPr lang="en-US" sz="1800" b="1"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Sharmasth</a:t>
            </a: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Vali</a:t>
            </a:r>
            <a:endPar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143693"/>
            <a:ext cx="10668000" cy="3924299"/>
          </a:xfrm>
          <a:prstGeom prst="rect">
            <a:avLst/>
          </a:prstGeom>
          <a:noFill/>
          <a:ln>
            <a:noFill/>
          </a:ln>
        </p:spPr>
        <p:txBody>
          <a:bodyPr spcFirstLastPara="1" wrap="square" lIns="91425" tIns="45700" rIns="91425" bIns="45700" anchor="t" anchorCtr="0">
            <a:normAutofit fontScale="25000"/>
          </a:bodyPr>
          <a:lstStyle/>
          <a:p>
            <a:pPr marL="495300" indent="-342900" algn="just">
              <a:lnSpc>
                <a:spcPct val="200000"/>
              </a:lnSpc>
              <a:spcBef>
                <a:spcPts val="0"/>
              </a:spcBef>
              <a:buFont typeface="Arial" panose="020B0604020202020204" pitchFamily="34" charset="0"/>
              <a:buChar char="•"/>
            </a:pPr>
            <a:r>
              <a:rPr lang="en-US" sz="6400" dirty="0">
                <a:latin typeface="Cambria" panose="02040503050406030204" pitchFamily="18" charset="0"/>
                <a:ea typeface="Cambria" panose="02040503050406030204" pitchFamily="18" charset="0"/>
                <a:sym typeface="+mn-ea"/>
              </a:rPr>
              <a:t>Problem Statement</a:t>
            </a:r>
            <a:endParaRPr lang="en-US" sz="64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sz="6400" dirty="0">
                <a:latin typeface="Cambria" panose="02040503050406030204" pitchFamily="18" charset="0"/>
                <a:ea typeface="Cambria" panose="02040503050406030204" pitchFamily="18" charset="0"/>
                <a:sym typeface="+mn-ea"/>
              </a:rPr>
              <a:t>Objectives</a:t>
            </a:r>
            <a:endParaRPr lang="en-US" sz="64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sz="6400" dirty="0">
                <a:latin typeface="Cambria" panose="02040503050406030204" pitchFamily="18" charset="0"/>
                <a:ea typeface="Cambria" panose="02040503050406030204" pitchFamily="18" charset="0"/>
                <a:sym typeface="+mn-ea"/>
              </a:rPr>
              <a:t>Background and Related work for title Selection</a:t>
            </a:r>
            <a:endParaRPr lang="en-US" sz="6400"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sz="6400" dirty="0">
                <a:latin typeface="Cambria" panose="02040503050406030204" pitchFamily="18" charset="0"/>
                <a:ea typeface="Cambria" panose="02040503050406030204" pitchFamily="18" charset="0"/>
                <a:sym typeface="+mn-ea"/>
              </a:rPr>
              <a:t>Analysis of Problem Statement</a:t>
            </a:r>
            <a:endParaRPr lang="en-US" sz="6400"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sz="6400" dirty="0">
                <a:latin typeface="Cambria" panose="02040503050406030204" pitchFamily="18" charset="0"/>
                <a:ea typeface="Cambria" panose="02040503050406030204" pitchFamily="18" charset="0"/>
                <a:sym typeface="+mn-ea"/>
              </a:rPr>
              <a:t>Innovation or Novel Contributions</a:t>
            </a:r>
            <a:endParaRPr lang="en-US" sz="64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sz="6400" dirty="0" err="1">
                <a:latin typeface="Cambria" panose="02040503050406030204" pitchFamily="18" charset="0"/>
                <a:ea typeface="Cambria" panose="02040503050406030204" pitchFamily="18" charset="0"/>
                <a:sym typeface="+mn-ea"/>
              </a:rPr>
              <a:t>Git</a:t>
            </a:r>
            <a:r>
              <a:rPr lang="en-US" sz="6400" dirty="0">
                <a:latin typeface="Cambria" panose="02040503050406030204" pitchFamily="18" charset="0"/>
                <a:ea typeface="Cambria" panose="02040503050406030204" pitchFamily="18" charset="0"/>
                <a:sym typeface="+mn-ea"/>
              </a:rPr>
              <a:t>-hub Link</a:t>
            </a:r>
            <a:endParaRPr lang="en-US" sz="64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6400" dirty="0">
                <a:latin typeface="Cambria" panose="02040503050406030204" pitchFamily="18" charset="0"/>
                <a:ea typeface="Cambria" panose="02040503050406030204" pitchFamily="18" charset="0"/>
                <a:sym typeface="+mn-ea"/>
              </a:rPr>
              <a:t>Timeline of the Project</a:t>
            </a:r>
            <a:endParaRPr lang="en-US" sz="64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6400" dirty="0">
                <a:latin typeface="Cambria" panose="02040503050406030204" pitchFamily="18" charset="0"/>
                <a:ea typeface="Cambria" panose="02040503050406030204" pitchFamily="18" charset="0"/>
                <a:sym typeface="+mn-ea"/>
              </a:rPr>
              <a:t>References</a:t>
            </a:r>
            <a:endParaRPr lang="en-US" sz="64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sz="56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dirty="0">
                <a:latin typeface="Cambria" panose="02040503050406030204" pitchFamily="18" charset="0"/>
                <a:ea typeface="Cambria" panose="02040503050406030204" pitchFamily="18" charset="0"/>
              </a:rPr>
              <a:t>Abstract </a:t>
            </a:r>
            <a:endParaRPr dirty="0">
              <a:latin typeface="Cambria" panose="02040503050406030204" pitchFamily="18" charset="0"/>
              <a:ea typeface="Cambria" panose="02040503050406030204" pitchFamily="18" charset="0"/>
            </a:endParaRPr>
          </a:p>
        </p:txBody>
      </p:sp>
      <p:sp>
        <p:nvSpPr>
          <p:cNvPr id="2" name="Google Shape;97;p14"/>
          <p:cNvSpPr txBox="1"/>
          <p:nvPr/>
        </p:nvSpPr>
        <p:spPr>
          <a:xfrm>
            <a:off x="651510" y="1149582"/>
            <a:ext cx="10668000" cy="4559068"/>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algn="just">
              <a:lnSpc>
                <a:spcPct val="150000"/>
              </a:lnSpc>
            </a:pPr>
            <a:r>
              <a:rPr lang="en-US" sz="1800" dirty="0">
                <a:latin typeface="Times New Roman" panose="02020603050405020304" pitchFamily="18" charset="0"/>
                <a:ea typeface="Cambria" panose="02040503050406030204" pitchFamily="18" charset="0"/>
                <a:cs typeface="Times New Roman" panose="02020603050405020304" pitchFamily="18" charset="0"/>
              </a:rPr>
              <a:t>Agriculture forms the backbone of the Indian economy, yet many farmers lack timely access to expert guidance regarding crop selection, pest management, fertilizer usage, irrigation scheduling, and weather-related risks. Traditional advisory services are limited due to manpower shortages, delayed responses, language barriers, and lack of localization.</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ea typeface="Cambria" panose="02040503050406030204" pitchFamily="18" charset="0"/>
                <a:cs typeface="Times New Roman" panose="02020603050405020304" pitchFamily="18" charset="0"/>
              </a:rPr>
              <a:t>This project proposes an AI-based Farmer Query Support and Advisory System that acts as a virtual agricultural assistant. The system allows farmers to ask queries using text, voice, or images in their local language. Using Natural Language Processing (NLP), Computer Vision, Machine Learning models, weather APIs, and crop databases, the system provides accurate, personalized, and location-aware recommendations.</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ea typeface="Cambria" panose="02040503050406030204" pitchFamily="18" charset="0"/>
                <a:cs typeface="Times New Roman" panose="02020603050405020304" pitchFamily="18" charset="0"/>
              </a:rPr>
              <a:t>The solution supports multilingual interaction, context awareness (crop type, soil, weather, season), and automatic escalation to human experts when confidence is low. This system aims to improve productivity, reduce crop losses, empower farmers digitally, and bridge the gap between farmers and agricultural experts.</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0"/>
            <a:ext cx="9883553" cy="1371600"/>
          </a:xfrm>
        </p:spPr>
        <p:txBody>
          <a:bodyPr/>
          <a:lstStyle/>
          <a:p>
            <a:r>
              <a:rPr lang="en-US" dirty="0">
                <a:latin typeface="Cambria" panose="02040503050406030204" pitchFamily="18" charset="0"/>
                <a:ea typeface="Cambria" panose="02040503050406030204" pitchFamily="18" charset="0"/>
              </a:rPr>
              <a:t>Literature Survey</a:t>
            </a:r>
            <a:br>
              <a:rPr lang="en-US" dirty="0">
                <a:latin typeface="Cambria" panose="02040503050406030204" pitchFamily="18" charset="0"/>
                <a:ea typeface="Cambria" panose="02040503050406030204" pitchFamily="18" charset="0"/>
              </a:rPr>
            </a:br>
            <a:endParaRPr lang="en-US" dirty="0"/>
          </a:p>
        </p:txBody>
      </p:sp>
      <p:sp>
        <p:nvSpPr>
          <p:cNvPr id="3" name="Text Placeholder 2"/>
          <p:cNvSpPr>
            <a:spLocks noGrp="1"/>
          </p:cNvSpPr>
          <p:nvPr>
            <p:ph type="body" idx="1"/>
          </p:nvPr>
        </p:nvSpPr>
        <p:spPr>
          <a:xfrm>
            <a:off x="812800" y="1038671"/>
            <a:ext cx="10668000" cy="5134800"/>
          </a:xfrm>
        </p:spPr>
        <p:txBody>
          <a:bodyPr>
            <a:noAutofit/>
          </a:bodyPr>
          <a:lstStyle/>
          <a:p>
            <a:pPr marL="76200" indent="0">
              <a:buNone/>
            </a:pPr>
            <a:r>
              <a:rPr lang="en-US" sz="1600" b="1" dirty="0">
                <a:latin typeface="Times New Roman" panose="02020603050405020304" pitchFamily="18" charset="0"/>
                <a:cs typeface="Times New Roman" panose="02020603050405020304" pitchFamily="18" charset="0"/>
              </a:rPr>
              <a:t>1. Kisan Call Centers (KCC) : </a:t>
            </a:r>
            <a:endParaRPr lang="en-US" sz="1600" b="1"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Farmers call toll-free numbers for advice.</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Limitation: Delay, human dependency, limited scalability.</a:t>
            </a:r>
            <a:endParaRPr lang="en-US" sz="1600" dirty="0">
              <a:latin typeface="Times New Roman" panose="02020603050405020304" pitchFamily="18" charset="0"/>
              <a:cs typeface="Times New Roman" panose="02020603050405020304" pitchFamily="18" charset="0"/>
            </a:endParaRPr>
          </a:p>
          <a:p>
            <a:pPr marL="76200" indent="0">
              <a:buNone/>
            </a:pPr>
            <a:r>
              <a:rPr lang="en-US" sz="1600" b="1" dirty="0">
                <a:latin typeface="Times New Roman" panose="02020603050405020304" pitchFamily="18" charset="0"/>
                <a:cs typeface="Times New Roman" panose="02020603050405020304" pitchFamily="18" charset="0"/>
              </a:rPr>
              <a:t>2. Agri Chatbots (IBM Watson, Microsoft FarmBeats) :</a:t>
            </a:r>
            <a:endParaRPr lang="en-US" sz="1600" b="1"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Provide automated responses using NLP.</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Mostly English-based and limited regional customization.</a:t>
            </a:r>
            <a:endParaRPr lang="en-US" sz="1600" dirty="0">
              <a:latin typeface="Times New Roman" panose="02020603050405020304" pitchFamily="18" charset="0"/>
              <a:cs typeface="Times New Roman" panose="02020603050405020304" pitchFamily="18" charset="0"/>
            </a:endParaRPr>
          </a:p>
          <a:p>
            <a:pPr marL="76200" indent="0">
              <a:buNone/>
            </a:pPr>
            <a:r>
              <a:rPr lang="en-US" sz="1600" b="1" dirty="0">
                <a:latin typeface="Times New Roman" panose="02020603050405020304" pitchFamily="18" charset="0"/>
                <a:cs typeface="Times New Roman" panose="02020603050405020304" pitchFamily="18" charset="0"/>
              </a:rPr>
              <a:t>3. Plant Disease Detection using CNN :</a:t>
            </a:r>
            <a:endParaRPr lang="en-US" sz="1600" b="1"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Research papers use CNN models like ResNet, MobileNet to detect plant diseases from leaf images.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Accuracy &gt; 90% in controlled datasets.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Limitation: Needs real-world adaptability.</a:t>
            </a:r>
            <a:endParaRPr lang="en-US" sz="1600" dirty="0">
              <a:latin typeface="Times New Roman" panose="02020603050405020304" pitchFamily="18" charset="0"/>
              <a:cs typeface="Times New Roman" panose="02020603050405020304" pitchFamily="18" charset="0"/>
            </a:endParaRPr>
          </a:p>
          <a:p>
            <a:pPr marL="76200" indent="0">
              <a:buNone/>
            </a:pPr>
            <a:r>
              <a:rPr lang="en-US" sz="1600" b="1" dirty="0">
                <a:latin typeface="Times New Roman" panose="02020603050405020304" pitchFamily="18" charset="0"/>
                <a:cs typeface="Times New Roman" panose="02020603050405020304" pitchFamily="18" charset="0"/>
              </a:rPr>
              <a:t>4. Weather-Based Crop Advisory Systems :</a:t>
            </a:r>
            <a:endParaRPr lang="en-US" sz="1600" b="1"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Systems integrate IMD weather data for irrigation and pest alerts.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Lack conversational interface.</a:t>
            </a:r>
            <a:endParaRPr lang="en-US" sz="1600" dirty="0">
              <a:latin typeface="Times New Roman" panose="02020603050405020304" pitchFamily="18" charset="0"/>
              <a:cs typeface="Times New Roman" panose="02020603050405020304" pitchFamily="18" charset="0"/>
            </a:endParaRPr>
          </a:p>
          <a:p>
            <a:pPr marL="76200" indent="0">
              <a:buNone/>
            </a:pPr>
            <a:r>
              <a:rPr lang="en-US" sz="1600" b="1" dirty="0">
                <a:latin typeface="Times New Roman" panose="02020603050405020304" pitchFamily="18" charset="0"/>
                <a:cs typeface="Times New Roman" panose="02020603050405020304" pitchFamily="18" charset="0"/>
              </a:rPr>
              <a:t>5. Multilingual NLP Systems : </a:t>
            </a:r>
            <a:endParaRPr lang="en-US" sz="1600" b="1"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Use transformers (mBERT, IndicBERT) for regional languages.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Challenges: Accent handling, noisy speech input.</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Objectives :</a:t>
            </a:r>
            <a:endParaRPr lang="en-US"/>
          </a:p>
        </p:txBody>
      </p:sp>
      <p:sp>
        <p:nvSpPr>
          <p:cNvPr id="3" name="Text Placeholder 2"/>
          <p:cNvSpPr>
            <a:spLocks noGrp="1"/>
          </p:cNvSpPr>
          <p:nvPr>
            <p:ph type="body" idx="1"/>
          </p:nvPr>
        </p:nvSpPr>
        <p:spPr>
          <a:xfrm>
            <a:off x="812800" y="1143000"/>
            <a:ext cx="11379200" cy="5883910"/>
          </a:xfrm>
        </p:spPr>
        <p:txBody>
          <a:bodyPr>
            <a:noAutofit/>
          </a:bodyPr>
          <a:lstStyle/>
          <a:p>
            <a:pPr marL="76200" indent="0">
              <a:buNone/>
            </a:pPr>
            <a:r>
              <a:rPr lang="en-US" altLang="en-IN" sz="2000" b="1">
                <a:latin typeface="Times New Roman Bold" panose="02020503050405090304" charset="0"/>
                <a:cs typeface="Times New Roman Bold" panose="02020503050405090304" charset="0"/>
              </a:rPr>
              <a:t>1. </a:t>
            </a:r>
            <a:r>
              <a:rPr lang="en-IN" sz="2000" b="1">
                <a:latin typeface="Times New Roman Bold" panose="02020503050405090304" charset="0"/>
                <a:cs typeface="Times New Roman Bold" panose="02020503050405090304" charset="0"/>
              </a:rPr>
              <a:t>Primary Objectives</a:t>
            </a:r>
            <a:r>
              <a:rPr lang="en-US" altLang="en-IN" sz="2000" b="1">
                <a:latin typeface="Times New Roman Bold" panose="02020503050405090304" charset="0"/>
                <a:cs typeface="Times New Roman Bold" panose="02020503050405090304" charset="0"/>
              </a:rPr>
              <a:t> : </a:t>
            </a:r>
            <a:endParaRPr lang="en-IN" sz="2000" b="1">
              <a:latin typeface="Times New Roman Bold" panose="02020503050405090304" charset="0"/>
              <a:cs typeface="Times New Roman Bold" panose="02020503050405090304" charset="0"/>
            </a:endParaRPr>
          </a:p>
          <a:p>
            <a:r>
              <a:rPr lang="en-IN" sz="2000">
                <a:latin typeface="Times New Roman" panose="02020603050405020304" pitchFamily="18" charset="0"/>
                <a:cs typeface="Times New Roman" panose="02020603050405020304" pitchFamily="18" charset="0"/>
              </a:rPr>
              <a:t>Build an AI-powered virtual Krishi assistant.</a:t>
            </a:r>
            <a:endParaRPr lang="en-IN" sz="2000">
              <a:latin typeface="Times New Roman" panose="02020603050405020304" pitchFamily="18" charset="0"/>
              <a:cs typeface="Times New Roman" panose="02020603050405020304" pitchFamily="18" charset="0"/>
            </a:endParaRPr>
          </a:p>
          <a:p>
            <a:r>
              <a:rPr lang="en-IN" sz="2000">
                <a:latin typeface="Times New Roman" panose="02020603050405020304" pitchFamily="18" charset="0"/>
                <a:cs typeface="Times New Roman" panose="02020603050405020304" pitchFamily="18" charset="0"/>
              </a:rPr>
              <a:t>Support multilingual text and voice queries.</a:t>
            </a:r>
            <a:endParaRPr lang="en-IN" sz="2000">
              <a:latin typeface="Times New Roman" panose="02020603050405020304" pitchFamily="18" charset="0"/>
              <a:cs typeface="Times New Roman" panose="02020603050405020304" pitchFamily="18" charset="0"/>
            </a:endParaRPr>
          </a:p>
          <a:p>
            <a:r>
              <a:rPr lang="en-IN" sz="2000">
                <a:latin typeface="Times New Roman" panose="02020603050405020304" pitchFamily="18" charset="0"/>
                <a:cs typeface="Times New Roman" panose="02020603050405020304" pitchFamily="18" charset="0"/>
              </a:rPr>
              <a:t>Enable image-based crop disease detection.</a:t>
            </a:r>
            <a:endParaRPr lang="en-IN" sz="2000">
              <a:latin typeface="Times New Roman" panose="02020603050405020304" pitchFamily="18" charset="0"/>
              <a:cs typeface="Times New Roman" panose="02020603050405020304" pitchFamily="18" charset="0"/>
            </a:endParaRPr>
          </a:p>
          <a:p>
            <a:r>
              <a:rPr lang="en-IN" sz="2000">
                <a:latin typeface="Times New Roman" panose="02020603050405020304" pitchFamily="18" charset="0"/>
                <a:cs typeface="Times New Roman" panose="02020603050405020304" pitchFamily="18" charset="0"/>
              </a:rPr>
              <a:t>Provide location-aware and weather-aware recommendations.</a:t>
            </a:r>
            <a:endParaRPr lang="en-IN" sz="2000">
              <a:latin typeface="Times New Roman" panose="02020603050405020304" pitchFamily="18" charset="0"/>
              <a:cs typeface="Times New Roman" panose="02020603050405020304" pitchFamily="18" charset="0"/>
            </a:endParaRPr>
          </a:p>
          <a:p>
            <a:r>
              <a:rPr lang="en-IN" sz="2000">
                <a:latin typeface="Times New Roman" panose="02020603050405020304" pitchFamily="18" charset="0"/>
                <a:cs typeface="Times New Roman" panose="02020603050405020304" pitchFamily="18" charset="0"/>
              </a:rPr>
              <a:t>Ensure farmer-friendly simple responses.</a:t>
            </a:r>
            <a:endParaRPr lang="en-IN" sz="2000">
              <a:latin typeface="Times New Roman" panose="02020603050405020304" pitchFamily="18" charset="0"/>
              <a:cs typeface="Times New Roman" panose="02020603050405020304" pitchFamily="18" charset="0"/>
            </a:endParaRPr>
          </a:p>
          <a:p>
            <a:pPr marL="76200" indent="0">
              <a:buNone/>
            </a:pPr>
            <a:endParaRPr lang="en-IN" sz="2000">
              <a:latin typeface="Times New Roman" panose="02020603050405020304" pitchFamily="18" charset="0"/>
              <a:cs typeface="Times New Roman" panose="02020603050405020304" pitchFamily="18" charset="0"/>
            </a:endParaRPr>
          </a:p>
          <a:p>
            <a:pPr marL="76200" indent="0">
              <a:buNone/>
            </a:pPr>
            <a:r>
              <a:rPr lang="en-IN" sz="2000" b="1">
                <a:latin typeface="Times New Roman Bold" panose="02020503050405090304" charset="0"/>
                <a:cs typeface="Times New Roman Bold" panose="02020503050405090304" charset="0"/>
              </a:rPr>
              <a:t> </a:t>
            </a:r>
            <a:r>
              <a:rPr lang="en-US" altLang="en-IN" sz="2000" b="1">
                <a:latin typeface="Times New Roman Bold" panose="02020503050405090304" charset="0"/>
                <a:cs typeface="Times New Roman Bold" panose="02020503050405090304" charset="0"/>
              </a:rPr>
              <a:t>2. </a:t>
            </a:r>
            <a:r>
              <a:rPr lang="en-IN" sz="2000" b="1">
                <a:latin typeface="Times New Roman Bold" panose="02020503050405090304" charset="0"/>
                <a:cs typeface="Times New Roman Bold" panose="02020503050405090304" charset="0"/>
              </a:rPr>
              <a:t>Secondary Objectives</a:t>
            </a:r>
            <a:r>
              <a:rPr lang="en-US" altLang="en-IN" sz="2000" b="1">
                <a:latin typeface="Times New Roman Bold" panose="02020503050405090304" charset="0"/>
                <a:cs typeface="Times New Roman Bold" panose="02020503050405090304" charset="0"/>
              </a:rPr>
              <a:t> :</a:t>
            </a:r>
            <a:endParaRPr lang="en-IN" sz="2000" b="1">
              <a:latin typeface="Times New Roman Bold" panose="02020503050405090304" charset="0"/>
              <a:cs typeface="Times New Roman Bold" panose="02020503050405090304" charset="0"/>
            </a:endParaRPr>
          </a:p>
          <a:p>
            <a:r>
              <a:rPr lang="en-IN" sz="2000">
                <a:latin typeface="Times New Roman" panose="02020603050405020304" pitchFamily="18" charset="0"/>
                <a:cs typeface="Times New Roman" panose="02020603050405020304" pitchFamily="18" charset="0"/>
              </a:rPr>
              <a:t>Store farmer history for personalization.</a:t>
            </a:r>
            <a:endParaRPr lang="en-IN" sz="2000">
              <a:latin typeface="Times New Roman" panose="02020603050405020304" pitchFamily="18" charset="0"/>
              <a:cs typeface="Times New Roman" panose="02020603050405020304" pitchFamily="18" charset="0"/>
            </a:endParaRPr>
          </a:p>
          <a:p>
            <a:r>
              <a:rPr lang="en-IN" sz="2000">
                <a:latin typeface="Times New Roman" panose="02020603050405020304" pitchFamily="18" charset="0"/>
                <a:cs typeface="Times New Roman" panose="02020603050405020304" pitchFamily="18" charset="0"/>
              </a:rPr>
              <a:t>Integrate escalation to human experts.</a:t>
            </a:r>
            <a:endParaRPr lang="en-IN" sz="2000">
              <a:latin typeface="Times New Roman" panose="02020603050405020304" pitchFamily="18" charset="0"/>
              <a:cs typeface="Times New Roman" panose="02020603050405020304" pitchFamily="18" charset="0"/>
            </a:endParaRPr>
          </a:p>
          <a:p>
            <a:r>
              <a:rPr lang="en-IN" sz="2000">
                <a:latin typeface="Times New Roman" panose="02020603050405020304" pitchFamily="18" charset="0"/>
                <a:cs typeface="Times New Roman" panose="02020603050405020304" pitchFamily="18" charset="0"/>
              </a:rPr>
              <a:t>Create feedback learning mechanism.</a:t>
            </a:r>
            <a:endParaRPr lang="en-IN" sz="2000">
              <a:latin typeface="Times New Roman" panose="02020603050405020304" pitchFamily="18" charset="0"/>
              <a:cs typeface="Times New Roman" panose="02020603050405020304" pitchFamily="18" charset="0"/>
            </a:endParaRPr>
          </a:p>
          <a:p>
            <a:r>
              <a:rPr lang="en-IN" sz="2000">
                <a:latin typeface="Times New Roman" panose="02020603050405020304" pitchFamily="18" charset="0"/>
                <a:cs typeface="Times New Roman" panose="02020603050405020304" pitchFamily="18" charset="0"/>
              </a:rPr>
              <a:t>Maintain scalable and low-cost deployment.</a:t>
            </a:r>
            <a:endParaRPr lang="en-IN"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152400" algn="just">
              <a:lnSpc>
                <a:spcPct val="200000"/>
              </a:lnSpc>
              <a:spcBef>
                <a:spcPts val="0"/>
              </a:spcBef>
            </a:pPr>
            <a:r>
              <a:rPr lang="en-US" dirty="0">
                <a:latin typeface="Cambria" panose="02040503050406030204" pitchFamily="18" charset="0"/>
                <a:ea typeface="Cambria" panose="02040503050406030204" pitchFamily="18" charset="0"/>
              </a:rPr>
              <a:t>Existing Methods &amp; Feasibility Study :</a:t>
            </a:r>
            <a:endParaRPr lang="en-US" dirty="0">
              <a:latin typeface="Cambria" panose="02040503050406030204" pitchFamily="18" charset="0"/>
              <a:ea typeface="Cambria" panose="02040503050406030204" pitchFamily="18" charset="0"/>
            </a:endParaRPr>
          </a:p>
        </p:txBody>
      </p:sp>
      <p:sp>
        <p:nvSpPr>
          <p:cNvPr id="3" name="Text Placeholder 2"/>
          <p:cNvSpPr>
            <a:spLocks noGrp="1"/>
          </p:cNvSpPr>
          <p:nvPr>
            <p:ph type="body" idx="1"/>
          </p:nvPr>
        </p:nvSpPr>
        <p:spPr>
          <a:xfrm>
            <a:off x="524934" y="1066800"/>
            <a:ext cx="11497734" cy="4809067"/>
          </a:xfrm>
        </p:spPr>
        <p:txBody>
          <a:bodyPr>
            <a:noAutofit/>
          </a:bodyPr>
          <a:lstStyle/>
          <a:p>
            <a:pPr marL="76200" indent="0">
              <a:buNone/>
            </a:pPr>
            <a:r>
              <a:rPr lang="en-IN" sz="2000" dirty="0">
                <a:latin typeface="Times New Roman" panose="02020603050405020304" pitchFamily="18" charset="0"/>
                <a:cs typeface="Times New Roman" panose="02020603050405020304" pitchFamily="18" charset="0"/>
              </a:rPr>
              <a:t>At present, farmers mainly depend on agricultural officers, Kisan Call Centers, mobile applications, and community groups to obtain farming advice. Manual field visits provide expert guidance but are slow, costly, and difficult to scale. Call centers improve accessibility but often suffer from long waiting times and language barriers. Static mobile applications provide general information but lack personalization based on local weather, soil, or crop conditions. Community platforms such as WhatsApp groups offer peer support, but the information shared is often unverified and unreliable. These existing methods are fragmented and do not provide fast, accurate, and context-aware support to farmers.</a:t>
            </a:r>
            <a:endParaRPr lang="en-IN" sz="2000" dirty="0">
              <a:latin typeface="Times New Roman" panose="02020603050405020304" pitchFamily="18" charset="0"/>
              <a:cs typeface="Times New Roman" panose="02020603050405020304" pitchFamily="18" charset="0"/>
            </a:endParaRPr>
          </a:p>
          <a:p>
            <a:pPr marL="76200" indent="0">
              <a:buNone/>
            </a:pPr>
            <a:endParaRPr lang="en-IN" sz="2000" dirty="0">
              <a:latin typeface="Times New Roman" panose="02020603050405020304" pitchFamily="18" charset="0"/>
              <a:cs typeface="Times New Roman" panose="02020603050405020304" pitchFamily="18" charset="0"/>
            </a:endParaRPr>
          </a:p>
          <a:p>
            <a:pPr marL="76200" indent="0">
              <a:buNone/>
            </a:pPr>
            <a:r>
              <a:rPr lang="en-IN" sz="2000" dirty="0">
                <a:latin typeface="Times New Roman" panose="02020603050405020304" pitchFamily="18" charset="0"/>
                <a:cs typeface="Times New Roman" panose="02020603050405020304" pitchFamily="18" charset="0"/>
              </a:rPr>
              <a:t>The proposed AI-based advisory system is technically feasible due to the availability of open-source AI tools, multilingual NLP models, image processing frameworks, and cloud services. It is economically feasible as development costs are low and cloud platforms follow pay-as-you-go models. Operationally, the system is easy to use with voice and local language support, making it suitable for rural users. The project is also schedule-feasible, as a functional prototype can be developed within the academic timeline using modular development. Hence, the system is practical, affordable, and implementable.</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200" y="0"/>
            <a:ext cx="6290491" cy="1143001"/>
          </a:xfrm>
        </p:spPr>
        <p:txBody>
          <a:bodyPr/>
          <a:lstStyle/>
          <a:p>
            <a:r>
              <a:rPr lang="en-US" dirty="0">
                <a:latin typeface="Cambria" panose="02040503050406030204" pitchFamily="18" charset="0"/>
                <a:ea typeface="Cambria" panose="02040503050406030204" pitchFamily="18" charset="0"/>
              </a:rPr>
              <a:t>Proposed Method </a:t>
            </a:r>
            <a:endParaRPr lang="en-US" dirty="0"/>
          </a:p>
        </p:txBody>
      </p:sp>
      <p:sp>
        <p:nvSpPr>
          <p:cNvPr id="3" name="Text Placeholder 2"/>
          <p:cNvSpPr>
            <a:spLocks noGrp="1"/>
          </p:cNvSpPr>
          <p:nvPr>
            <p:ph type="body" idx="1"/>
          </p:nvPr>
        </p:nvSpPr>
        <p:spPr>
          <a:xfrm>
            <a:off x="549910" y="952500"/>
            <a:ext cx="10965180" cy="5522595"/>
          </a:xfrm>
        </p:spPr>
        <p:txBody>
          <a:bodyPr>
            <a:normAutofit fontScale="60000"/>
          </a:bodyPr>
          <a:lstStyle/>
          <a:p>
            <a:pPr>
              <a:buFont typeface="Wingdings" panose="05000000000000000000" charset="0"/>
              <a:buChar char=""/>
            </a:pPr>
            <a:r>
              <a:rPr lang="en-US" sz="2665" dirty="0">
                <a:latin typeface="Times New Roman" panose="02020603050405020304" pitchFamily="18" charset="0"/>
                <a:cs typeface="Times New Roman" panose="02020603050405020304" pitchFamily="18" charset="0"/>
              </a:rPr>
              <a:t>The system provides instant, intelligent, and farmer-friendly agricultural guidance using Artificial Intelligence technologies.</a:t>
            </a:r>
            <a:endParaRPr lang="en-US" sz="2665" dirty="0">
              <a:latin typeface="Times New Roman" panose="02020603050405020304" pitchFamily="18" charset="0"/>
              <a:cs typeface="Times New Roman" panose="02020603050405020304" pitchFamily="18" charset="0"/>
            </a:endParaRPr>
          </a:p>
          <a:p>
            <a:pPr>
              <a:buFont typeface="Wingdings" panose="05000000000000000000" charset="0"/>
              <a:buChar char=""/>
            </a:pPr>
            <a:r>
              <a:rPr lang="en-US" sz="2665" dirty="0">
                <a:latin typeface="Times New Roman" panose="02020603050405020304" pitchFamily="18" charset="0"/>
                <a:cs typeface="Times New Roman" panose="02020603050405020304" pitchFamily="18" charset="0"/>
              </a:rPr>
              <a:t>Farmers can submit queries through multiple input modes such as:  Text input , Voice input, Image upload (crop / disease photos)</a:t>
            </a:r>
            <a:endParaRPr lang="en-US" sz="2665" dirty="0">
              <a:latin typeface="Times New Roman" panose="02020603050405020304" pitchFamily="18" charset="0"/>
              <a:cs typeface="Times New Roman" panose="02020603050405020304" pitchFamily="18" charset="0"/>
            </a:endParaRPr>
          </a:p>
          <a:p>
            <a:pPr>
              <a:buFont typeface="Wingdings" panose="05000000000000000000" charset="0"/>
              <a:buChar char=""/>
            </a:pPr>
            <a:r>
              <a:rPr lang="en-US" sz="2665" dirty="0">
                <a:latin typeface="Times New Roman" panose="02020603050405020304" pitchFamily="18" charset="0"/>
                <a:cs typeface="Times New Roman" panose="02020603050405020304" pitchFamily="18" charset="0"/>
              </a:rPr>
              <a:t>A mobile or web-based application is used for easy accessibility, especially for rural users and low-literacy farmers.</a:t>
            </a:r>
            <a:endParaRPr lang="en-US" sz="2665" dirty="0">
              <a:latin typeface="Times New Roman" panose="02020603050405020304" pitchFamily="18" charset="0"/>
              <a:cs typeface="Times New Roman" panose="02020603050405020304" pitchFamily="18" charset="0"/>
            </a:endParaRPr>
          </a:p>
          <a:p>
            <a:pPr>
              <a:buFont typeface="Wingdings" panose="05000000000000000000" charset="0"/>
              <a:buChar char=""/>
            </a:pPr>
            <a:r>
              <a:rPr lang="en-US" sz="2665" dirty="0">
                <a:latin typeface="Times New Roman" panose="02020603050405020304" pitchFamily="18" charset="0"/>
                <a:cs typeface="Times New Roman" panose="02020603050405020304" pitchFamily="18" charset="0"/>
              </a:rPr>
              <a:t>Voice queries are converted into text using Speech-to-Text technology for further processing.</a:t>
            </a:r>
            <a:endParaRPr lang="en-US" sz="2665" dirty="0">
              <a:latin typeface="Times New Roman" panose="02020603050405020304" pitchFamily="18" charset="0"/>
              <a:cs typeface="Times New Roman" panose="02020603050405020304" pitchFamily="18" charset="0"/>
            </a:endParaRPr>
          </a:p>
          <a:p>
            <a:pPr>
              <a:buFont typeface="Wingdings" panose="05000000000000000000" charset="0"/>
              <a:buChar char=""/>
            </a:pPr>
            <a:r>
              <a:rPr lang="en-US" sz="2665" dirty="0">
                <a:latin typeface="Times New Roman" panose="02020603050405020304" pitchFamily="18" charset="0"/>
                <a:cs typeface="Times New Roman" panose="02020603050405020304" pitchFamily="18" charset="0"/>
              </a:rPr>
              <a:t>Uploaded images are preprocessed and analyzed using a Convolutional Neural Network (CNN) trained on agricultural datasets to identify diseases, pests, or nutrient deficiencies.</a:t>
            </a:r>
            <a:endParaRPr lang="en-US" sz="2665" dirty="0">
              <a:latin typeface="Times New Roman" panose="02020603050405020304" pitchFamily="18" charset="0"/>
              <a:cs typeface="Times New Roman" panose="02020603050405020304" pitchFamily="18" charset="0"/>
            </a:endParaRPr>
          </a:p>
          <a:p>
            <a:pPr>
              <a:buFont typeface="Wingdings" panose="05000000000000000000" charset="0"/>
              <a:buChar char=""/>
            </a:pPr>
            <a:r>
              <a:rPr lang="en-US" sz="2665" dirty="0">
                <a:latin typeface="Times New Roman" panose="02020603050405020304" pitchFamily="18" charset="0"/>
                <a:cs typeface="Times New Roman" panose="02020603050405020304" pitchFamily="18" charset="0"/>
              </a:rPr>
              <a:t>The system applies Natural Language Processing (NLP) to:</a:t>
            </a:r>
            <a:endParaRPr lang="en-US" sz="2665" dirty="0">
              <a:latin typeface="Times New Roman" panose="02020603050405020304" pitchFamily="18" charset="0"/>
              <a:cs typeface="Times New Roman" panose="02020603050405020304" pitchFamily="18" charset="0"/>
            </a:endParaRPr>
          </a:p>
          <a:p>
            <a:pPr lvl="1">
              <a:buFont typeface="Wingdings" panose="05000000000000000000" charset="0"/>
              <a:buChar char=""/>
            </a:pPr>
            <a:r>
              <a:rPr lang="en-US" sz="2665" dirty="0">
                <a:latin typeface="Times New Roman" panose="02020603050405020304" pitchFamily="18" charset="0"/>
                <a:cs typeface="Times New Roman" panose="02020603050405020304" pitchFamily="18" charset="0"/>
              </a:rPr>
              <a:t>Understand farmer intent</a:t>
            </a:r>
            <a:endParaRPr lang="en-US" sz="2665" dirty="0">
              <a:latin typeface="Times New Roman" panose="02020603050405020304" pitchFamily="18" charset="0"/>
              <a:cs typeface="Times New Roman" panose="02020603050405020304" pitchFamily="18" charset="0"/>
            </a:endParaRPr>
          </a:p>
          <a:p>
            <a:pPr lvl="1">
              <a:buFont typeface="Wingdings" panose="05000000000000000000" charset="0"/>
              <a:buChar char=""/>
            </a:pPr>
            <a:r>
              <a:rPr lang="en-US" sz="2665" dirty="0">
                <a:latin typeface="Times New Roman" panose="02020603050405020304" pitchFamily="18" charset="0"/>
                <a:cs typeface="Times New Roman" panose="02020603050405020304" pitchFamily="18" charset="0"/>
              </a:rPr>
              <a:t>Extract key details (crop name, problem type, urgency)</a:t>
            </a:r>
            <a:endParaRPr lang="en-US" sz="2665" dirty="0">
              <a:latin typeface="Times New Roman" panose="02020603050405020304" pitchFamily="18" charset="0"/>
              <a:cs typeface="Times New Roman" panose="02020603050405020304" pitchFamily="18" charset="0"/>
            </a:endParaRPr>
          </a:p>
          <a:p>
            <a:pPr lvl="1">
              <a:buFont typeface="Wingdings" panose="05000000000000000000" charset="0"/>
              <a:buChar char=""/>
            </a:pPr>
            <a:r>
              <a:rPr lang="en-US" sz="2665" dirty="0">
                <a:latin typeface="Times New Roman" panose="02020603050405020304" pitchFamily="18" charset="0"/>
                <a:cs typeface="Times New Roman" panose="02020603050405020304" pitchFamily="18" charset="0"/>
              </a:rPr>
              <a:t>Classify the query into relevant categories</a:t>
            </a:r>
            <a:endParaRPr lang="en-US" sz="2665" dirty="0">
              <a:latin typeface="Times New Roman" panose="02020603050405020304" pitchFamily="18" charset="0"/>
              <a:cs typeface="Times New Roman" panose="02020603050405020304" pitchFamily="18" charset="0"/>
            </a:endParaRPr>
          </a:p>
          <a:p>
            <a:pPr>
              <a:buFont typeface="Wingdings" panose="05000000000000000000" charset="0"/>
              <a:buChar char=""/>
            </a:pPr>
            <a:r>
              <a:rPr lang="en-US" sz="2665" dirty="0">
                <a:latin typeface="Times New Roman" panose="02020603050405020304" pitchFamily="18" charset="0"/>
                <a:cs typeface="Times New Roman" panose="02020603050405020304" pitchFamily="18" charset="0"/>
              </a:rPr>
              <a:t>The system fetches contextual information such as : Farmer location , Weather conditions , Season , Soil type , Crop growth stage , using external APIs and internal databases.</a:t>
            </a:r>
            <a:endParaRPr lang="en-US" sz="2665" dirty="0">
              <a:latin typeface="Times New Roman" panose="02020603050405020304" pitchFamily="18" charset="0"/>
              <a:cs typeface="Times New Roman" panose="02020603050405020304" pitchFamily="18" charset="0"/>
            </a:endParaRPr>
          </a:p>
          <a:p>
            <a:pPr>
              <a:buFont typeface="Wingdings" panose="05000000000000000000" charset="0"/>
              <a:buChar char=""/>
            </a:pPr>
            <a:r>
              <a:rPr lang="en-US" sz="2665" dirty="0">
                <a:latin typeface="Times New Roman" panose="02020603050405020304" pitchFamily="18" charset="0"/>
                <a:cs typeface="Times New Roman" panose="02020603050405020304" pitchFamily="18" charset="0"/>
              </a:rPr>
              <a:t>A Recommendation Engine generates personalized solutions using : Rule-based logic , Machine learning models </a:t>
            </a:r>
            <a:endParaRPr lang="en-US" sz="2665" dirty="0">
              <a:latin typeface="Times New Roman" panose="02020603050405020304" pitchFamily="18" charset="0"/>
              <a:cs typeface="Times New Roman" panose="02020603050405020304" pitchFamily="18" charset="0"/>
            </a:endParaRPr>
          </a:p>
          <a:p>
            <a:pPr>
              <a:buFont typeface="Wingdings" panose="05000000000000000000" charset="0"/>
              <a:buChar char=""/>
            </a:pPr>
            <a:r>
              <a:rPr lang="en-US" sz="2665" dirty="0">
                <a:latin typeface="Times New Roman" panose="02020603050405020304" pitchFamily="18" charset="0"/>
                <a:cs typeface="Times New Roman" panose="02020603050405020304" pitchFamily="18" charset="0"/>
              </a:rPr>
              <a:t>Recommendations may include: Fertilizer dosage , Pest control measures , Irrigation scheduling , Crop protection techniques , Weather precaution advice</a:t>
            </a:r>
            <a:endParaRPr lang="en-US" sz="2665" dirty="0">
              <a:latin typeface="Times New Roman" panose="02020603050405020304" pitchFamily="18" charset="0"/>
              <a:cs typeface="Times New Roman" panose="02020603050405020304" pitchFamily="18" charset="0"/>
            </a:endParaRPr>
          </a:p>
          <a:p>
            <a:pPr>
              <a:buFont typeface="Wingdings" panose="05000000000000000000" charset="0"/>
              <a:buChar char=""/>
            </a:pPr>
            <a:r>
              <a:rPr lang="en-US" sz="2665" dirty="0">
                <a:latin typeface="Times New Roman" panose="02020603050405020304" pitchFamily="18" charset="0"/>
                <a:cs typeface="Times New Roman" panose="02020603050405020304" pitchFamily="18" charset="0"/>
              </a:rPr>
              <a:t>The response is translated into the farmer’s local language and delivered as text or voice output.</a:t>
            </a:r>
            <a:endParaRPr lang="en-US" sz="2665" dirty="0">
              <a:latin typeface="Times New Roman" panose="02020603050405020304" pitchFamily="18" charset="0"/>
              <a:cs typeface="Times New Roman" panose="02020603050405020304" pitchFamily="18" charset="0"/>
            </a:endParaRPr>
          </a:p>
          <a:p>
            <a:pPr>
              <a:buFont typeface="Wingdings" panose="05000000000000000000" charset="0"/>
              <a:buChar char=""/>
            </a:pPr>
            <a:r>
              <a:rPr lang="en-US" sz="2665" dirty="0">
                <a:latin typeface="Times New Roman" panose="02020603050405020304" pitchFamily="18" charset="0"/>
                <a:cs typeface="Times New Roman" panose="02020603050405020304" pitchFamily="18" charset="0"/>
              </a:rPr>
              <a:t>The system stores user feedback and query history to continuously improve accuracy through learning mechanisms.</a:t>
            </a:r>
            <a:endParaRPr lang="en-US" sz="2665" dirty="0">
              <a:latin typeface="Times New Roman" panose="02020603050405020304" pitchFamily="18" charset="0"/>
              <a:cs typeface="Times New Roman" panose="02020603050405020304" pitchFamily="18" charset="0"/>
            </a:endParaRPr>
          </a:p>
          <a:p>
            <a:pPr>
              <a:buFont typeface="Wingdings" panose="05000000000000000000" charset="0"/>
              <a:buChar char=""/>
            </a:pPr>
            <a:endParaRPr lang="en-US" sz="2545"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2545"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anose="02040503050406030204" pitchFamily="18" charset="0"/>
                <a:ea typeface="Cambria" panose="02040503050406030204" pitchFamily="18" charset="0"/>
                <a:sym typeface="+mn-ea"/>
              </a:rPr>
              <a:t>Feasibility Study</a:t>
            </a:r>
            <a:endParaRPr lang="en-US"/>
          </a:p>
        </p:txBody>
      </p:sp>
      <p:sp>
        <p:nvSpPr>
          <p:cNvPr id="3" name="Text Placeholder 2"/>
          <p:cNvSpPr>
            <a:spLocks noGrp="1"/>
          </p:cNvSpPr>
          <p:nvPr>
            <p:ph type="body" idx="1"/>
          </p:nvPr>
        </p:nvSpPr>
        <p:spPr>
          <a:xfrm>
            <a:off x="812800" y="1085799"/>
            <a:ext cx="10668000" cy="5156887"/>
          </a:xfrm>
        </p:spPr>
        <p:txBody>
          <a:bodyPr>
            <a:noAutofit/>
          </a:bodyPr>
          <a:lstStyle/>
          <a:p>
            <a:pPr marL="76200" indent="0">
              <a:buNone/>
            </a:pPr>
            <a:r>
              <a:rPr lang="en-US" sz="1800" b="1" dirty="0">
                <a:latin typeface="Times New Roman" panose="02020603050405020304" pitchFamily="18" charset="0"/>
                <a:cs typeface="Times New Roman" panose="02020603050405020304" pitchFamily="18" charset="0"/>
              </a:rPr>
              <a:t>Technical Feasibility : </a:t>
            </a:r>
            <a:endParaRPr lang="en-US" sz="1800" b="1" dirty="0">
              <a:latin typeface="Times New Roman" panose="02020603050405020304" pitchFamily="18" charset="0"/>
              <a:cs typeface="Times New Roman" panose="02020603050405020304" pitchFamily="18" charset="0"/>
            </a:endParaRPr>
          </a:p>
          <a:p>
            <a:pPr marL="76200" indent="0">
              <a:buNone/>
            </a:pPr>
            <a:r>
              <a:rPr lang="en-US" sz="1800" dirty="0">
                <a:latin typeface="Times New Roman" panose="02020603050405020304" pitchFamily="18" charset="0"/>
                <a:cs typeface="Times New Roman" panose="02020603050405020304" pitchFamily="18" charset="0"/>
              </a:rPr>
              <a:t>Uses mature AI frameworks (TensorFlow, PyTorch, NLP libraries).</a:t>
            </a:r>
            <a:endParaRPr lang="en-US" sz="1800" dirty="0">
              <a:latin typeface="Times New Roman" panose="02020603050405020304" pitchFamily="18" charset="0"/>
              <a:cs typeface="Times New Roman" panose="02020603050405020304" pitchFamily="18" charset="0"/>
            </a:endParaRPr>
          </a:p>
          <a:p>
            <a:pPr marL="76200" indent="0">
              <a:buNone/>
            </a:pPr>
            <a:r>
              <a:rPr lang="en-US" sz="1800" dirty="0">
                <a:latin typeface="Times New Roman" panose="02020603050405020304" pitchFamily="18" charset="0"/>
                <a:cs typeface="Times New Roman" panose="02020603050405020304" pitchFamily="18" charset="0"/>
              </a:rPr>
              <a:t>Speech recognition and translation APIs are readily available.</a:t>
            </a:r>
            <a:endParaRPr lang="en-US" sz="1800" dirty="0">
              <a:latin typeface="Times New Roman" panose="02020603050405020304" pitchFamily="18" charset="0"/>
              <a:cs typeface="Times New Roman" panose="02020603050405020304" pitchFamily="18" charset="0"/>
            </a:endParaRPr>
          </a:p>
          <a:p>
            <a:pPr marL="76200" indent="0">
              <a:buNone/>
            </a:pPr>
            <a:r>
              <a:rPr lang="en-US" sz="1800" dirty="0">
                <a:latin typeface="Times New Roman" panose="02020603050405020304" pitchFamily="18" charset="0"/>
                <a:cs typeface="Times New Roman" panose="02020603050405020304" pitchFamily="18" charset="0"/>
              </a:rPr>
              <a:t>Weather and agricultural data APIs are accessible.</a:t>
            </a:r>
            <a:endParaRPr lang="en-US" sz="1800" dirty="0">
              <a:latin typeface="Times New Roman" panose="02020603050405020304" pitchFamily="18" charset="0"/>
              <a:cs typeface="Times New Roman" panose="02020603050405020304" pitchFamily="18" charset="0"/>
            </a:endParaRPr>
          </a:p>
          <a:p>
            <a:pPr marL="76200" indent="0">
              <a:buNone/>
            </a:pPr>
            <a:endParaRPr lang="en-US" sz="1800" dirty="0">
              <a:latin typeface="Times New Roman" panose="02020603050405020304" pitchFamily="18" charset="0"/>
              <a:cs typeface="Times New Roman" panose="02020603050405020304" pitchFamily="18" charset="0"/>
            </a:endParaRPr>
          </a:p>
          <a:p>
            <a:pPr marL="76200" indent="0">
              <a:buNone/>
            </a:pPr>
            <a:r>
              <a:rPr lang="en-US" sz="1800" b="1" dirty="0">
                <a:latin typeface="Times New Roman" panose="02020603050405020304" pitchFamily="18" charset="0"/>
                <a:cs typeface="Times New Roman" panose="02020603050405020304" pitchFamily="18" charset="0"/>
              </a:rPr>
              <a:t>Economic Feasibility :</a:t>
            </a:r>
            <a:endParaRPr lang="en-US" sz="1800" b="1" dirty="0">
              <a:latin typeface="Times New Roman" panose="02020603050405020304" pitchFamily="18" charset="0"/>
              <a:cs typeface="Times New Roman" panose="02020603050405020304" pitchFamily="18" charset="0"/>
            </a:endParaRPr>
          </a:p>
          <a:p>
            <a:pPr marL="76200" indent="0">
              <a:buNone/>
            </a:pPr>
            <a:r>
              <a:rPr lang="en-US" sz="1800" dirty="0">
                <a:latin typeface="Times New Roman" panose="02020603050405020304" pitchFamily="18" charset="0"/>
                <a:cs typeface="Times New Roman" panose="02020603050405020304" pitchFamily="18" charset="0"/>
              </a:rPr>
              <a:t>Mostly open-source tools reduce development cost.</a:t>
            </a:r>
            <a:endParaRPr lang="en-US" sz="1800" dirty="0">
              <a:latin typeface="Times New Roman" panose="02020603050405020304" pitchFamily="18" charset="0"/>
              <a:cs typeface="Times New Roman" panose="02020603050405020304" pitchFamily="18" charset="0"/>
            </a:endParaRPr>
          </a:p>
          <a:p>
            <a:pPr marL="76200" indent="0">
              <a:buNone/>
            </a:pPr>
            <a:r>
              <a:rPr lang="en-US" sz="1800" dirty="0">
                <a:latin typeface="Times New Roman" panose="02020603050405020304" pitchFamily="18" charset="0"/>
                <a:cs typeface="Times New Roman" panose="02020603050405020304" pitchFamily="18" charset="0"/>
              </a:rPr>
              <a:t>Cloud services use pay-as-you-go pricing.</a:t>
            </a:r>
            <a:endParaRPr lang="en-US" sz="1800" dirty="0">
              <a:latin typeface="Times New Roman" panose="02020603050405020304" pitchFamily="18" charset="0"/>
              <a:cs typeface="Times New Roman" panose="02020603050405020304" pitchFamily="18" charset="0"/>
            </a:endParaRPr>
          </a:p>
          <a:p>
            <a:pPr marL="76200" indent="0">
              <a:buNone/>
            </a:pPr>
            <a:endParaRPr lang="en-US" sz="1800" b="1" dirty="0">
              <a:latin typeface="Times New Roman" panose="02020603050405020304" pitchFamily="18" charset="0"/>
              <a:cs typeface="Times New Roman" panose="02020603050405020304" pitchFamily="18" charset="0"/>
            </a:endParaRPr>
          </a:p>
          <a:p>
            <a:pPr marL="76200" indent="0">
              <a:buNone/>
            </a:pPr>
            <a:r>
              <a:rPr lang="en-US" sz="1800" b="1" dirty="0">
                <a:latin typeface="Times New Roman" panose="02020603050405020304" pitchFamily="18" charset="0"/>
                <a:cs typeface="Times New Roman" panose="02020603050405020304" pitchFamily="18" charset="0"/>
              </a:rPr>
              <a:t>Operational Feasibility :</a:t>
            </a:r>
            <a:endParaRPr lang="en-US" sz="1800" b="1" dirty="0">
              <a:latin typeface="Times New Roman" panose="02020603050405020304" pitchFamily="18" charset="0"/>
              <a:cs typeface="Times New Roman" panose="02020603050405020304" pitchFamily="18" charset="0"/>
            </a:endParaRPr>
          </a:p>
          <a:p>
            <a:pPr marL="76200" indent="0">
              <a:buNone/>
            </a:pPr>
            <a:r>
              <a:rPr lang="en-US" sz="1800" dirty="0">
                <a:latin typeface="Times New Roman" panose="02020603050405020304" pitchFamily="18" charset="0"/>
                <a:cs typeface="Times New Roman" panose="02020603050405020304" pitchFamily="18" charset="0"/>
              </a:rPr>
              <a:t>Simple interface with voice support improves usability for farmers.</a:t>
            </a:r>
            <a:endParaRPr lang="en-US" sz="1800" dirty="0">
              <a:latin typeface="Times New Roman" panose="02020603050405020304" pitchFamily="18" charset="0"/>
              <a:cs typeface="Times New Roman" panose="02020603050405020304" pitchFamily="18" charset="0"/>
            </a:endParaRPr>
          </a:p>
          <a:p>
            <a:pPr marL="76200" indent="0">
              <a:buNone/>
            </a:pPr>
            <a:r>
              <a:rPr lang="en-US" sz="1800" dirty="0">
                <a:latin typeface="Times New Roman" panose="02020603050405020304" pitchFamily="18" charset="0"/>
                <a:cs typeface="Times New Roman" panose="02020603050405020304" pitchFamily="18" charset="0"/>
              </a:rPr>
              <a:t>Multilingual support increases accessibility.</a:t>
            </a:r>
            <a:endParaRPr lang="en-US" sz="1800" dirty="0">
              <a:latin typeface="Times New Roman" panose="02020603050405020304" pitchFamily="18" charset="0"/>
              <a:cs typeface="Times New Roman" panose="02020603050405020304" pitchFamily="18" charset="0"/>
            </a:endParaRPr>
          </a:p>
          <a:p>
            <a:pPr marL="76200" indent="0">
              <a:buNone/>
            </a:pPr>
            <a:endParaRPr lang="en-US" sz="1800" b="1" dirty="0">
              <a:latin typeface="Times New Roman" panose="02020603050405020304" pitchFamily="18" charset="0"/>
              <a:cs typeface="Times New Roman" panose="02020603050405020304" pitchFamily="18" charset="0"/>
            </a:endParaRPr>
          </a:p>
          <a:p>
            <a:pPr marL="76200" indent="0">
              <a:buNone/>
            </a:pPr>
            <a:r>
              <a:rPr lang="en-US" sz="1800" b="1" dirty="0">
                <a:latin typeface="Times New Roman" panose="02020603050405020304" pitchFamily="18" charset="0"/>
                <a:cs typeface="Times New Roman" panose="02020603050405020304" pitchFamily="18" charset="0"/>
              </a:rPr>
              <a:t>Schedule Feasibility :</a:t>
            </a:r>
            <a:endParaRPr lang="en-US" sz="1800" b="1" dirty="0">
              <a:latin typeface="Times New Roman" panose="02020603050405020304" pitchFamily="18" charset="0"/>
              <a:cs typeface="Times New Roman" panose="02020603050405020304" pitchFamily="18" charset="0"/>
            </a:endParaRPr>
          </a:p>
          <a:p>
            <a:pPr marL="76200" indent="0">
              <a:buNone/>
            </a:pPr>
            <a:r>
              <a:rPr lang="en-US" sz="1800" dirty="0">
                <a:latin typeface="Times New Roman" panose="02020603050405020304" pitchFamily="18" charset="0"/>
                <a:cs typeface="Times New Roman" panose="02020603050405020304" pitchFamily="18" charset="0"/>
              </a:rPr>
              <a:t>Modular development enables completion within academic timeline.</a:t>
            </a:r>
            <a:endParaRPr lang="en-US" sz="1800" dirty="0">
              <a:latin typeface="Times New Roman" panose="02020603050405020304" pitchFamily="18" charset="0"/>
              <a:cs typeface="Times New Roman" panose="02020603050405020304" pitchFamily="18" charset="0"/>
            </a:endParaRPr>
          </a:p>
          <a:p>
            <a:pPr marL="76200" indent="0">
              <a:buNone/>
            </a:pP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143691"/>
            <a:ext cx="6123577" cy="999310"/>
          </a:xfrm>
        </p:spPr>
        <p:txBody>
          <a:bodyPr/>
          <a:lstStyle/>
          <a:p>
            <a:r>
              <a:rPr lang="en-US" dirty="0">
                <a:latin typeface="Cambria" panose="02040503050406030204" pitchFamily="18" charset="0"/>
                <a:ea typeface="Cambria" panose="02040503050406030204" pitchFamily="18" charset="0"/>
              </a:rPr>
              <a:t>Architecture Diagram</a:t>
            </a:r>
            <a:endParaRPr lang="en-US" dirty="0"/>
          </a:p>
        </p:txBody>
      </p:sp>
      <p:sp>
        <p:nvSpPr>
          <p:cNvPr id="3" name="Text Placeholder 2"/>
          <p:cNvSpPr>
            <a:spLocks noGrp="1"/>
          </p:cNvSpPr>
          <p:nvPr>
            <p:ph type="body" idx="1"/>
          </p:nvPr>
        </p:nvSpPr>
        <p:spPr/>
        <p:txBody>
          <a:bodyPr/>
          <a:lstStyle/>
          <a:p>
            <a:pPr marL="76200" indent="0">
              <a:buNone/>
            </a:pPr>
            <a:r>
              <a:rPr lang="en-US" dirty="0"/>
              <a:t> </a:t>
            </a:r>
            <a:endParaRPr lang="en-US" dirty="0"/>
          </a:p>
          <a:p>
            <a:pPr marL="76200" indent="0">
              <a:buNone/>
            </a:pPr>
            <a:endParaRPr lang="en-US" dirty="0"/>
          </a:p>
        </p:txBody>
      </p:sp>
      <p:graphicFrame>
        <p:nvGraphicFramePr>
          <p:cNvPr id="4" name="Table 3"/>
          <p:cNvGraphicFramePr>
            <a:graphicFrameLocks noGrp="1"/>
          </p:cNvGraphicFramePr>
          <p:nvPr/>
        </p:nvGraphicFramePr>
        <p:xfrm>
          <a:off x="4263390" y="1333321"/>
          <a:ext cx="2423160" cy="415469"/>
        </p:xfrm>
        <a:graphic>
          <a:graphicData uri="http://schemas.openxmlformats.org/drawingml/2006/table">
            <a:tbl>
              <a:tblPr firstRow="1" lastRow="1" bandRow="1">
                <a:tableStyleId>{0505E3EF-67EA-436B-97B2-0124C06EBD24}</a:tableStyleId>
              </a:tblPr>
              <a:tblGrid>
                <a:gridCol w="2423160"/>
              </a:tblGrid>
              <a:tr h="415469">
                <a:tc>
                  <a:txBody>
                    <a:bodyPr/>
                    <a:lstStyle/>
                    <a:p>
                      <a:r>
                        <a:rPr lang="en-US" b="1" dirty="0">
                          <a:solidFill>
                            <a:schemeClr val="tx1"/>
                          </a:solidFill>
                          <a:latin typeface="Times New Roman" panose="02020603050405020304" pitchFamily="18" charset="0"/>
                          <a:cs typeface="Times New Roman" panose="02020603050405020304" pitchFamily="18" charset="0"/>
                        </a:rPr>
                        <a:t>          </a:t>
                      </a:r>
                      <a:r>
                        <a:rPr lang="en-US" sz="1600" b="1" dirty="0">
                          <a:solidFill>
                            <a:schemeClr val="tx1"/>
                          </a:solidFill>
                          <a:latin typeface="Times New Roman" panose="02020603050405020304" pitchFamily="18" charset="0"/>
                          <a:cs typeface="Times New Roman" panose="02020603050405020304" pitchFamily="18" charset="0"/>
                        </a:rPr>
                        <a:t>Student(User)</a:t>
                      </a:r>
                      <a:endParaRPr lang="en-US" sz="1600" b="1" dirty="0">
                        <a:solidFill>
                          <a:schemeClr val="tx1"/>
                        </a:solidFill>
                        <a:latin typeface="Times New Roman" panose="02020603050405020304" pitchFamily="18" charset="0"/>
                        <a:cs typeface="Times New Roman" panose="02020603050405020304" pitchFamily="18" charset="0"/>
                      </a:endParaRPr>
                    </a:p>
                  </a:txBody>
                  <a:tcPr/>
                </a:tc>
              </a:tr>
            </a:tbl>
          </a:graphicData>
        </a:graphic>
      </p:graphicFrame>
      <p:sp>
        <p:nvSpPr>
          <p:cNvPr id="5" name="Arrow: Down 4"/>
          <p:cNvSpPr/>
          <p:nvPr/>
        </p:nvSpPr>
        <p:spPr>
          <a:xfrm>
            <a:off x="5309235" y="1748790"/>
            <a:ext cx="280035" cy="393521"/>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graphicFrame>
        <p:nvGraphicFramePr>
          <p:cNvPr id="6" name="Table 5"/>
          <p:cNvGraphicFramePr>
            <a:graphicFrameLocks noGrp="1"/>
          </p:cNvGraphicFramePr>
          <p:nvPr/>
        </p:nvGraphicFramePr>
        <p:xfrm>
          <a:off x="4263390" y="2142311"/>
          <a:ext cx="2626043" cy="919121"/>
        </p:xfrm>
        <a:graphic>
          <a:graphicData uri="http://schemas.openxmlformats.org/drawingml/2006/table">
            <a:tbl>
              <a:tblPr firstRow="1" bandRow="1">
                <a:tableStyleId>{0505E3EF-67EA-436B-97B2-0124C06EBD24}</a:tableStyleId>
              </a:tblPr>
              <a:tblGrid>
                <a:gridCol w="2626043"/>
              </a:tblGrid>
              <a:tr h="919121">
                <a:tc>
                  <a:txBody>
                    <a:bodyPr/>
                    <a:lstStyle/>
                    <a:p>
                      <a:r>
                        <a:rPr lang="en-US" sz="1600" dirty="0">
                          <a:solidFill>
                            <a:schemeClr val="tx1"/>
                          </a:solidFill>
                        </a:rPr>
                        <a:t>    Frontend(React.js)</a:t>
                      </a:r>
                      <a:endParaRPr lang="en-US" sz="1600" dirty="0">
                        <a:solidFill>
                          <a:schemeClr val="tx1"/>
                        </a:solidFill>
                      </a:endParaRPr>
                    </a:p>
                    <a:p>
                      <a:r>
                        <a:rPr lang="en-US" sz="1600" dirty="0">
                          <a:solidFill>
                            <a:schemeClr val="tx1"/>
                          </a:solidFill>
                        </a:rPr>
                        <a:t>     User login/Signup</a:t>
                      </a:r>
                      <a:endParaRPr lang="en-US" sz="1600" dirty="0">
                        <a:solidFill>
                          <a:schemeClr val="tx1"/>
                        </a:solidFill>
                      </a:endParaRPr>
                    </a:p>
                    <a:p>
                      <a:r>
                        <a:rPr lang="en-US" sz="1600" dirty="0">
                          <a:solidFill>
                            <a:schemeClr val="tx1"/>
                          </a:solidFill>
                          <a:latin typeface="Times New Roman" panose="02020603050405020304" pitchFamily="18" charset="0"/>
                          <a:cs typeface="Times New Roman" panose="02020603050405020304" pitchFamily="18" charset="0"/>
                        </a:rPr>
                        <a:t>       Dashboard</a:t>
                      </a:r>
                      <a:r>
                        <a:rPr lang="en-US" sz="1600" dirty="0">
                          <a:solidFill>
                            <a:schemeClr val="tx1"/>
                          </a:solidFill>
                        </a:rPr>
                        <a:t> View</a:t>
                      </a:r>
                      <a:endParaRPr lang="en-US" sz="1600" dirty="0">
                        <a:solidFill>
                          <a:schemeClr val="tx1"/>
                        </a:solidFill>
                      </a:endParaRPr>
                    </a:p>
                  </a:txBody>
                  <a:tcPr/>
                </a:tc>
              </a:tr>
            </a:tbl>
          </a:graphicData>
        </a:graphic>
      </p:graphicFrame>
      <p:sp>
        <p:nvSpPr>
          <p:cNvPr id="7" name="Arrow: Down 6"/>
          <p:cNvSpPr/>
          <p:nvPr/>
        </p:nvSpPr>
        <p:spPr>
          <a:xfrm>
            <a:off x="5268371" y="3105537"/>
            <a:ext cx="320899" cy="369348"/>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aphicFrame>
        <p:nvGraphicFramePr>
          <p:cNvPr id="8" name="Table 7"/>
          <p:cNvGraphicFramePr>
            <a:graphicFrameLocks noGrp="1"/>
          </p:cNvGraphicFramePr>
          <p:nvPr/>
        </p:nvGraphicFramePr>
        <p:xfrm>
          <a:off x="3738469" y="3518990"/>
          <a:ext cx="3668171" cy="1118913"/>
        </p:xfrm>
        <a:graphic>
          <a:graphicData uri="http://schemas.openxmlformats.org/drawingml/2006/table">
            <a:tbl>
              <a:tblPr firstRow="1" bandRow="1">
                <a:tableStyleId>{0505E3EF-67EA-436B-97B2-0124C06EBD24}</a:tableStyleId>
              </a:tblPr>
              <a:tblGrid>
                <a:gridCol w="3668171"/>
              </a:tblGrid>
              <a:tr h="1118913">
                <a:tc>
                  <a:txBody>
                    <a:bodyPr/>
                    <a:lstStyle/>
                    <a:p>
                      <a:r>
                        <a:rPr lang="en-US" sz="1600" dirty="0"/>
                        <a:t>          Backend(Node.js)</a:t>
                      </a:r>
                      <a:endParaRPr lang="en-US" sz="1600" dirty="0"/>
                    </a:p>
                    <a:p>
                      <a:r>
                        <a:rPr lang="en-US" sz="1600" dirty="0">
                          <a:latin typeface="Times New Roman" panose="02020603050405020304" pitchFamily="18" charset="0"/>
                          <a:cs typeface="Times New Roman" panose="02020603050405020304" pitchFamily="18" charset="0"/>
                        </a:rPr>
                        <a:t>       Handles</a:t>
                      </a:r>
                      <a:r>
                        <a:rPr lang="en-US" sz="1600" dirty="0"/>
                        <a:t> Business logic</a:t>
                      </a:r>
                      <a:endParaRPr lang="en-US" sz="1600" dirty="0"/>
                    </a:p>
                    <a:p>
                      <a:r>
                        <a:rPr lang="en-US" sz="1600" dirty="0"/>
                        <a:t>  Recommends next learning step</a:t>
                      </a:r>
                      <a:endParaRPr lang="en-US" sz="1600" dirty="0"/>
                    </a:p>
                    <a:p>
                      <a:r>
                        <a:rPr lang="en-US" sz="1600" dirty="0"/>
                        <a:t>      Connects to database</a:t>
                      </a:r>
                      <a:endParaRPr lang="en-US" sz="1600" dirty="0"/>
                    </a:p>
                  </a:txBody>
                  <a:tcPr/>
                </a:tc>
              </a:tr>
            </a:tbl>
          </a:graphicData>
        </a:graphic>
      </p:graphicFrame>
      <p:sp>
        <p:nvSpPr>
          <p:cNvPr id="9" name="Arrow: Down 8"/>
          <p:cNvSpPr/>
          <p:nvPr/>
        </p:nvSpPr>
        <p:spPr>
          <a:xfrm>
            <a:off x="5189219" y="4541685"/>
            <a:ext cx="400051" cy="413453"/>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aphicFrame>
        <p:nvGraphicFramePr>
          <p:cNvPr id="10" name="Table 9"/>
          <p:cNvGraphicFramePr>
            <a:graphicFrameLocks noGrp="1"/>
          </p:cNvGraphicFramePr>
          <p:nvPr/>
        </p:nvGraphicFramePr>
        <p:xfrm>
          <a:off x="3737610" y="4949825"/>
          <a:ext cx="3668395" cy="1310640"/>
        </p:xfrm>
        <a:graphic>
          <a:graphicData uri="http://schemas.openxmlformats.org/drawingml/2006/table">
            <a:tbl>
              <a:tblPr firstRow="1" bandRow="1">
                <a:tableStyleId>{0505E3EF-67EA-436B-97B2-0124C06EBD24}</a:tableStyleId>
              </a:tblPr>
              <a:tblGrid>
                <a:gridCol w="3668395"/>
              </a:tblGrid>
              <a:tr h="1310640">
                <a:tc>
                  <a:txBody>
                    <a:bodyPr/>
                    <a:lstStyle/>
                    <a:p>
                      <a:pPr algn="l"/>
                      <a:r>
                        <a:rPr lang="en-US" sz="1600" b="1" dirty="0">
                          <a:latin typeface="Times New Roman" panose="02020603050405020304" pitchFamily="18" charset="0"/>
                          <a:cs typeface="Times New Roman" panose="02020603050405020304" pitchFamily="18" charset="0"/>
                        </a:rPr>
                        <a:t>                 Firebase Database</a:t>
                      </a:r>
                      <a:endParaRPr lang="en-US" sz="1600" b="1" dirty="0">
                        <a:latin typeface="Times New Roman" panose="02020603050405020304" pitchFamily="18" charset="0"/>
                        <a:cs typeface="Times New Roman" panose="02020603050405020304" pitchFamily="18" charset="0"/>
                      </a:endParaRPr>
                    </a:p>
                    <a:p>
                      <a:pPr algn="l"/>
                      <a:r>
                        <a:rPr lang="en-US" sz="1600" dirty="0">
                          <a:latin typeface="Times New Roman" panose="02020603050405020304" pitchFamily="18" charset="0"/>
                          <a:cs typeface="Times New Roman" panose="02020603050405020304" pitchFamily="18" charset="0"/>
                        </a:rPr>
                        <a:t>                    User Profile</a:t>
                      </a:r>
                      <a:endParaRPr lang="en-US" sz="1600" dirty="0">
                        <a:latin typeface="Times New Roman" panose="02020603050405020304" pitchFamily="18" charset="0"/>
                        <a:cs typeface="Times New Roman" panose="02020603050405020304" pitchFamily="18" charset="0"/>
                      </a:endParaRPr>
                    </a:p>
                    <a:p>
                      <a:pPr algn="l"/>
                      <a:r>
                        <a:rPr lang="en-US" sz="1600" dirty="0">
                          <a:latin typeface="Times New Roman" panose="02020603050405020304" pitchFamily="18" charset="0"/>
                          <a:cs typeface="Times New Roman" panose="02020603050405020304" pitchFamily="18" charset="0"/>
                        </a:rPr>
                        <a:t>                 Learning Path</a:t>
                      </a:r>
                      <a:endParaRPr lang="en-US" sz="1600" dirty="0">
                        <a:latin typeface="Times New Roman" panose="02020603050405020304" pitchFamily="18" charset="0"/>
                        <a:cs typeface="Times New Roman" panose="02020603050405020304" pitchFamily="18" charset="0"/>
                      </a:endParaRPr>
                    </a:p>
                    <a:p>
                      <a:pPr algn="l"/>
                      <a:r>
                        <a:rPr lang="en-US" sz="1600" dirty="0">
                          <a:latin typeface="Times New Roman" panose="02020603050405020304" pitchFamily="18" charset="0"/>
                          <a:cs typeface="Times New Roman" panose="02020603050405020304" pitchFamily="18" charset="0"/>
                        </a:rPr>
                        <a:t>                    Progress Data</a:t>
                      </a:r>
                      <a:endParaRPr lang="en-US" sz="1600" dirty="0">
                        <a:latin typeface="Times New Roman" panose="02020603050405020304" pitchFamily="18" charset="0"/>
                        <a:cs typeface="Times New Roman" panose="02020603050405020304" pitchFamily="18" charset="0"/>
                      </a:endParaRPr>
                    </a:p>
                    <a:p>
                      <a:pPr algn="l"/>
                      <a:r>
                        <a:rPr lang="en-US" sz="1600" dirty="0">
                          <a:latin typeface="Times New Roman" panose="02020603050405020304" pitchFamily="18" charset="0"/>
                          <a:cs typeface="Times New Roman" panose="02020603050405020304" pitchFamily="18" charset="0"/>
                        </a:rPr>
                        <a:t>                      Resources</a:t>
                      </a:r>
                      <a:endParaRPr lang="en-US" sz="1600"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104502"/>
            <a:ext cx="3001554" cy="862149"/>
          </a:xfrm>
        </p:spPr>
        <p:txBody>
          <a:bodyPr/>
          <a:lstStyle/>
          <a:p>
            <a:r>
              <a:rPr lang="en-US" sz="3200" dirty="0">
                <a:latin typeface="Cambria" panose="02040503050406030204" pitchFamily="18" charset="0"/>
                <a:ea typeface="Cambria" panose="02040503050406030204" pitchFamily="18" charset="0"/>
              </a:rPr>
              <a:t>Modules</a:t>
            </a:r>
            <a:endParaRPr lang="en-US" sz="3200" dirty="0"/>
          </a:p>
        </p:txBody>
      </p:sp>
      <p:sp>
        <p:nvSpPr>
          <p:cNvPr id="3" name="Text Placeholder 2"/>
          <p:cNvSpPr>
            <a:spLocks noGrp="1"/>
          </p:cNvSpPr>
          <p:nvPr>
            <p:ph type="body" idx="1"/>
          </p:nvPr>
        </p:nvSpPr>
        <p:spPr/>
        <p:txBody>
          <a:bodyPr>
            <a:normAutofit/>
          </a:bodyPr>
          <a:lstStyle/>
          <a:p>
            <a:pPr marL="76200" indent="0">
              <a:lnSpc>
                <a:spcPct val="150000"/>
              </a:lnSpc>
              <a:buNone/>
            </a:pPr>
            <a:r>
              <a:rPr lang="en-US" sz="2000" b="1" dirty="0">
                <a:latin typeface="Times New Roman Bold" panose="02020503050405090304" charset="0"/>
                <a:cs typeface="Times New Roman Bold" panose="02020503050405090304" charset="0"/>
              </a:rPr>
              <a:t>1.User Interface Module : </a:t>
            </a:r>
            <a:r>
              <a:rPr lang="en-US" sz="2000" dirty="0">
                <a:latin typeface="Times New Roman" panose="02020603050405020304" pitchFamily="18" charset="0"/>
                <a:cs typeface="Times New Roman" panose="02020603050405020304" pitchFamily="18" charset="0"/>
              </a:rPr>
              <a:t>Mobile App / Web App</a:t>
            </a:r>
            <a:endParaRPr lang="en-US" sz="2000" dirty="0">
              <a:latin typeface="Times New Roman" panose="02020603050405020304" pitchFamily="18" charset="0"/>
              <a:cs typeface="Times New Roman" panose="02020603050405020304" pitchFamily="18" charset="0"/>
            </a:endParaRPr>
          </a:p>
          <a:p>
            <a:pPr marL="76200" indent="0">
              <a:lnSpc>
                <a:spcPct val="150000"/>
              </a:lnSpc>
              <a:buNone/>
            </a:pPr>
            <a:r>
              <a:rPr lang="en-US" sz="2000" b="1" dirty="0">
                <a:latin typeface="Times New Roman Bold" panose="02020503050405090304" charset="0"/>
                <a:cs typeface="Times New Roman Bold" panose="02020503050405090304" charset="0"/>
              </a:rPr>
              <a:t>2. Speech Processing Module : </a:t>
            </a:r>
            <a:r>
              <a:rPr lang="en-US" sz="2000" dirty="0">
                <a:latin typeface="Times New Roman" panose="02020603050405020304" pitchFamily="18" charset="0"/>
                <a:cs typeface="Times New Roman" panose="02020603050405020304" pitchFamily="18" charset="0"/>
              </a:rPr>
              <a:t>Speech-to-text, text-to-speech</a:t>
            </a:r>
            <a:endParaRPr lang="en-US" sz="2000" dirty="0">
              <a:latin typeface="Times New Roman" panose="02020603050405020304" pitchFamily="18" charset="0"/>
              <a:cs typeface="Times New Roman" panose="02020603050405020304" pitchFamily="18" charset="0"/>
            </a:endParaRPr>
          </a:p>
          <a:p>
            <a:pPr marL="76200" indent="0">
              <a:lnSpc>
                <a:spcPct val="150000"/>
              </a:lnSpc>
              <a:buNone/>
            </a:pPr>
            <a:r>
              <a:rPr lang="en-US" sz="2000" b="1" dirty="0">
                <a:latin typeface="Times New Roman Bold" panose="02020503050405090304" charset="0"/>
                <a:cs typeface="Times New Roman Bold" panose="02020503050405090304" charset="0"/>
              </a:rPr>
              <a:t>3. Image Processing Module : </a:t>
            </a:r>
            <a:r>
              <a:rPr lang="en-US" sz="2000" dirty="0">
                <a:latin typeface="Times New Roman" panose="02020603050405020304" pitchFamily="18" charset="0"/>
                <a:cs typeface="Times New Roman" panose="02020603050405020304" pitchFamily="18" charset="0"/>
              </a:rPr>
              <a:t>Disease classification model</a:t>
            </a:r>
            <a:endParaRPr lang="en-US" sz="2000" dirty="0">
              <a:latin typeface="Times New Roman" panose="02020603050405020304" pitchFamily="18" charset="0"/>
              <a:cs typeface="Times New Roman" panose="02020603050405020304" pitchFamily="18" charset="0"/>
            </a:endParaRPr>
          </a:p>
          <a:p>
            <a:pPr marL="76200" indent="0">
              <a:lnSpc>
                <a:spcPct val="150000"/>
              </a:lnSpc>
              <a:buNone/>
            </a:pPr>
            <a:r>
              <a:rPr lang="en-US" sz="2000" b="1" dirty="0">
                <a:latin typeface="Times New Roman Bold" panose="02020503050405090304" charset="0"/>
                <a:cs typeface="Times New Roman Bold" panose="02020503050405090304" charset="0"/>
              </a:rPr>
              <a:t>4. NLP Module : </a:t>
            </a:r>
            <a:r>
              <a:rPr lang="en-US" sz="2000" dirty="0">
                <a:latin typeface="Times New Roman" panose="02020603050405020304" pitchFamily="18" charset="0"/>
                <a:cs typeface="Times New Roman" panose="02020603050405020304" pitchFamily="18" charset="0"/>
              </a:rPr>
              <a:t>Intent detection, language translation</a:t>
            </a:r>
            <a:endParaRPr lang="en-US" sz="2000" dirty="0">
              <a:latin typeface="Times New Roman" panose="02020603050405020304" pitchFamily="18" charset="0"/>
              <a:cs typeface="Times New Roman" panose="02020603050405020304" pitchFamily="18" charset="0"/>
            </a:endParaRPr>
          </a:p>
          <a:p>
            <a:pPr marL="76200" indent="0">
              <a:lnSpc>
                <a:spcPct val="150000"/>
              </a:lnSpc>
              <a:buNone/>
            </a:pPr>
            <a:r>
              <a:rPr lang="en-US" sz="2000" b="1" dirty="0">
                <a:latin typeface="Times New Roman Bold" panose="02020503050405090304" charset="0"/>
                <a:cs typeface="Times New Roman Bold" panose="02020503050405090304" charset="0"/>
              </a:rPr>
              <a:t>5. Context Engine : </a:t>
            </a:r>
            <a:r>
              <a:rPr lang="en-US" sz="2000" dirty="0">
                <a:latin typeface="Times New Roman" panose="02020603050405020304" pitchFamily="18" charset="0"/>
                <a:cs typeface="Times New Roman" panose="02020603050405020304" pitchFamily="18" charset="0"/>
              </a:rPr>
              <a:t>Weather, season, soil analysis</a:t>
            </a:r>
            <a:endParaRPr lang="en-US" sz="2000" dirty="0">
              <a:latin typeface="Times New Roman" panose="02020603050405020304" pitchFamily="18" charset="0"/>
              <a:cs typeface="Times New Roman" panose="02020603050405020304" pitchFamily="18" charset="0"/>
            </a:endParaRPr>
          </a:p>
          <a:p>
            <a:pPr marL="76200" indent="0">
              <a:lnSpc>
                <a:spcPct val="150000"/>
              </a:lnSpc>
              <a:buNone/>
            </a:pPr>
            <a:r>
              <a:rPr lang="en-US" sz="2000" b="1" dirty="0">
                <a:latin typeface="Times New Roman Bold" panose="02020503050405090304" charset="0"/>
                <a:cs typeface="Times New Roman Bold" panose="02020503050405090304" charset="0"/>
              </a:rPr>
              <a:t>6. Recommendation Engine : </a:t>
            </a:r>
            <a:r>
              <a:rPr lang="en-US" sz="2000" dirty="0">
                <a:latin typeface="Times New Roman" panose="02020603050405020304" pitchFamily="18" charset="0"/>
                <a:cs typeface="Times New Roman" panose="02020603050405020304" pitchFamily="18" charset="0"/>
              </a:rPr>
              <a:t>Rule-based + ML model</a:t>
            </a:r>
            <a:endParaRPr lang="en-US" sz="2000" dirty="0">
              <a:latin typeface="Times New Roman" panose="02020603050405020304" pitchFamily="18" charset="0"/>
              <a:cs typeface="Times New Roman" panose="02020603050405020304" pitchFamily="18" charset="0"/>
            </a:endParaRPr>
          </a:p>
          <a:p>
            <a:pPr marL="76200" indent="0">
              <a:lnSpc>
                <a:spcPct val="150000"/>
              </a:lnSpc>
              <a:buNone/>
            </a:pPr>
            <a:r>
              <a:rPr lang="en-US" sz="2000" b="1" dirty="0">
                <a:latin typeface="Times New Roman Bold" panose="02020503050405090304" charset="0"/>
                <a:cs typeface="Times New Roman Bold" panose="02020503050405090304" charset="0"/>
              </a:rPr>
              <a:t>7.Feedback &amp; Learning Module : </a:t>
            </a:r>
            <a:r>
              <a:rPr lang="en-US" sz="2000" dirty="0">
                <a:latin typeface="Times New Roman" panose="02020603050405020304" pitchFamily="18" charset="0"/>
                <a:cs typeface="Times New Roman" panose="02020603050405020304" pitchFamily="18" charset="0"/>
              </a:rPr>
              <a:t>User rating, model improvement</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609599" y="829733"/>
            <a:ext cx="11226801" cy="5198533"/>
          </a:xfrm>
          <a:prstGeom prst="rect">
            <a:avLst/>
          </a:prstGeom>
          <a:noFill/>
          <a:ln>
            <a:noFill/>
          </a:ln>
        </p:spPr>
        <p:txBody>
          <a:bodyPr spcFirstLastPara="1" wrap="square" lIns="91425" tIns="45700" rIns="91425" bIns="45700" anchor="ctr" anchorCtr="0">
            <a:noAutofit/>
          </a:bodyPr>
          <a:lstStyle/>
          <a:p>
            <a:pPr marL="76200" indent="0" algn="just">
              <a:buNone/>
            </a:pPr>
            <a:r>
              <a:rPr lang="en-IN" sz="1400">
                <a:latin typeface="Times New Roman" panose="02020603050405020304" pitchFamily="18" charset="0"/>
                <a:cs typeface="Times New Roman" panose="02020603050405020304" pitchFamily="18" charset="0"/>
              </a:rPr>
              <a:t>[1] S. P. Mohanty, D. P. Hughes, and M. Salathé, “Using Deep Learning for Image-Based Plant Disease Detection,” arXiv preprint, Feb. 2016. [Online]. Available: https://arxiv.org/abs/1604.03169</a:t>
            </a:r>
            <a:endParaRPr lang="en-IN" sz="1400">
              <a:latin typeface="Times New Roman" panose="02020603050405020304" pitchFamily="18" charset="0"/>
              <a:cs typeface="Times New Roman" panose="02020603050405020304" pitchFamily="18" charset="0"/>
            </a:endParaRPr>
          </a:p>
          <a:p>
            <a:pPr marL="76200" indent="0" algn="just">
              <a:buNone/>
            </a:pPr>
            <a:r>
              <a:rPr lang="en-IN" sz="1400">
                <a:latin typeface="Times New Roman" panose="02020603050405020304" pitchFamily="18" charset="0"/>
                <a:cs typeface="Times New Roman" panose="02020603050405020304" pitchFamily="18" charset="0"/>
              </a:rPr>
              <a:t>[2] E. C. Too, L. Yujian, S. Njuki, and L. Yingchun, “A Comparative Study of Fine-Tuning Deep Learning Models for Plant Disease Identification,” Computers and Electronics in Agriculture, vol. 161, pp. 272–279, May 2019. [Online]. Available: https://arxiv.org/abs/1902.10155</a:t>
            </a:r>
            <a:endParaRPr lang="en-IN" sz="1400">
              <a:latin typeface="Times New Roman" panose="02020603050405020304" pitchFamily="18" charset="0"/>
              <a:cs typeface="Times New Roman" panose="02020603050405020304" pitchFamily="18" charset="0"/>
            </a:endParaRPr>
          </a:p>
          <a:p>
            <a:pPr marL="76200" indent="0" algn="just">
              <a:buNone/>
            </a:pPr>
            <a:r>
              <a:rPr lang="en-IN" sz="1400">
                <a:latin typeface="Times New Roman" panose="02020603050405020304" pitchFamily="18" charset="0"/>
                <a:cs typeface="Times New Roman" panose="02020603050405020304" pitchFamily="18" charset="0"/>
              </a:rPr>
              <a:t>[3] J. Devlin, M. Chang, K. Lee, and K. Toutanova, “BERT: Pre-training of Deep Bidirectional Transformers for Language Understanding,” arXiv preprint, Oct. 2018. [Online]. Available: https://arxiv.org/abs/1810.04805</a:t>
            </a:r>
            <a:endParaRPr lang="en-IN" sz="1400">
              <a:latin typeface="Times New Roman" panose="02020603050405020304" pitchFamily="18" charset="0"/>
              <a:cs typeface="Times New Roman" panose="02020603050405020304" pitchFamily="18" charset="0"/>
            </a:endParaRPr>
          </a:p>
          <a:p>
            <a:pPr marL="76200" indent="0" algn="just">
              <a:buNone/>
            </a:pPr>
            <a:r>
              <a:rPr lang="en-IN" sz="1400">
                <a:latin typeface="Times New Roman" panose="02020603050405020304" pitchFamily="18" charset="0"/>
                <a:cs typeface="Times New Roman" panose="02020603050405020304" pitchFamily="18" charset="0"/>
              </a:rPr>
              <a:t>[4] A. Vaswani et al., “Attention Is All You Need,” arXiv preprint, June 2017. [Online]. Available: https://arxiv.org/abs/1706.03762</a:t>
            </a:r>
            <a:endParaRPr lang="en-IN" sz="1400">
              <a:latin typeface="Times New Roman" panose="02020603050405020304" pitchFamily="18" charset="0"/>
              <a:cs typeface="Times New Roman" panose="02020603050405020304" pitchFamily="18" charset="0"/>
            </a:endParaRPr>
          </a:p>
          <a:p>
            <a:pPr marL="76200" indent="0" algn="just">
              <a:buNone/>
            </a:pPr>
            <a:r>
              <a:rPr lang="en-IN" sz="1400">
                <a:latin typeface="Times New Roman" panose="02020603050405020304" pitchFamily="18" charset="0"/>
                <a:cs typeface="Times New Roman" panose="02020603050405020304" pitchFamily="18" charset="0"/>
              </a:rPr>
              <a:t>[5] AI4Bharat, “IndicBERT: Multilingual Language Model for Indian Languages,” arXiv preprint, Aug. 2020. [Online]. Available: https://arxiv.org/abs/2005.00085</a:t>
            </a:r>
            <a:endParaRPr lang="en-IN" sz="1400">
              <a:latin typeface="Times New Roman" panose="02020603050405020304" pitchFamily="18" charset="0"/>
              <a:cs typeface="Times New Roman" panose="02020603050405020304" pitchFamily="18" charset="0"/>
            </a:endParaRPr>
          </a:p>
          <a:p>
            <a:pPr marL="76200" indent="0" algn="just">
              <a:buNone/>
            </a:pPr>
            <a:r>
              <a:rPr lang="en-IN" sz="1400">
                <a:latin typeface="Times New Roman" panose="02020603050405020304" pitchFamily="18" charset="0"/>
                <a:cs typeface="Times New Roman" panose="02020603050405020304" pitchFamily="18" charset="0"/>
              </a:rPr>
              <a:t>[6] Food and Agriculture Organization (FAO), “Digital Agriculture Transformation and Smart Farming,” FAO Technical Report, 2021. [Online]. Available: https://www.fao.org</a:t>
            </a:r>
            <a:endParaRPr lang="en-IN" sz="1400">
              <a:latin typeface="Times New Roman" panose="02020603050405020304" pitchFamily="18" charset="0"/>
              <a:cs typeface="Times New Roman" panose="02020603050405020304" pitchFamily="18" charset="0"/>
            </a:endParaRPr>
          </a:p>
          <a:p>
            <a:pPr marL="76200" indent="0" algn="just">
              <a:buNone/>
            </a:pPr>
            <a:r>
              <a:rPr lang="en-IN" sz="1400">
                <a:latin typeface="Times New Roman" panose="02020603050405020304" pitchFamily="18" charset="0"/>
                <a:cs typeface="Times New Roman" panose="02020603050405020304" pitchFamily="18" charset="0"/>
              </a:rPr>
              <a:t>[7] Google Cloud, “Speech-to-Text API Documentation,” Google Developers, 2024. [Online]. Available: https://cloud.google.com/speech-to-text</a:t>
            </a:r>
            <a:endParaRPr lang="en-IN" sz="1400">
              <a:latin typeface="Times New Roman" panose="02020603050405020304" pitchFamily="18" charset="0"/>
              <a:cs typeface="Times New Roman" panose="02020603050405020304" pitchFamily="18" charset="0"/>
            </a:endParaRPr>
          </a:p>
          <a:p>
            <a:pPr marL="76200" indent="0" algn="just">
              <a:buNone/>
            </a:pPr>
            <a:r>
              <a:rPr lang="en-IN" sz="1400">
                <a:latin typeface="Times New Roman" panose="02020603050405020304" pitchFamily="18" charset="0"/>
                <a:cs typeface="Times New Roman" panose="02020603050405020304" pitchFamily="18" charset="0"/>
              </a:rPr>
              <a:t>[8] Kaggle, “PlantVillage Dataset for Plant Disease Detection,” Kaggle Datasets, 2023. [Online]. Available: https://www.kaggle.com/datasets/emmarex/plantdisease</a:t>
            </a:r>
            <a:endParaRPr lang="en-IN" sz="1400">
              <a:latin typeface="Times New Roman" panose="02020603050405020304" pitchFamily="18" charset="0"/>
              <a:cs typeface="Times New Roman" panose="02020603050405020304" pitchFamily="18" charset="0"/>
            </a:endParaRPr>
          </a:p>
          <a:p>
            <a:pPr marL="76200" indent="0" algn="just">
              <a:buNone/>
            </a:pPr>
            <a:r>
              <a:rPr lang="en-IN" sz="1400">
                <a:latin typeface="Times New Roman" panose="02020603050405020304" pitchFamily="18" charset="0"/>
                <a:cs typeface="Times New Roman" panose="02020603050405020304" pitchFamily="18" charset="0"/>
              </a:rPr>
              <a:t>[9] Smart India Hackathon, “Problem Statement SIH25076 – AI-Based Farmer Query Support and Advisory System,” Ministry of Education, Government of India, 2025. [Online]. Available: https://www.sih.gov.in</a:t>
            </a:r>
            <a:endParaRPr lang="en-IN" sz="1400">
              <a:latin typeface="Times New Roman" panose="02020603050405020304" pitchFamily="18" charset="0"/>
              <a:cs typeface="Times New Roman" panose="02020603050405020304" pitchFamily="18" charset="0"/>
            </a:endParaRPr>
          </a:p>
          <a:p>
            <a:pPr marL="76200" indent="0" algn="just">
              <a:buNone/>
            </a:pPr>
            <a:r>
              <a:rPr lang="en-IN" sz="1400">
                <a:latin typeface="Times New Roman" panose="02020603050405020304" pitchFamily="18" charset="0"/>
                <a:cs typeface="Times New Roman" panose="02020603050405020304" pitchFamily="18" charset="0"/>
              </a:rPr>
              <a:t>[10] TensorFlow, “TensorFlow Machine Learning Framework Documentation,” Google Open Source, 2024. [Online]. Available: https://www.tensorflow.org</a:t>
            </a:r>
            <a:endParaRPr lang="en-IN"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9221</Words>
  <Application>WPS Presentation</Application>
  <PresentationFormat>Widescreen</PresentationFormat>
  <Paragraphs>174</Paragraphs>
  <Slides>12</Slides>
  <Notes>6</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12</vt:i4>
      </vt:variant>
    </vt:vector>
  </HeadingPairs>
  <TitlesOfParts>
    <vt:vector size="25" baseType="lpstr">
      <vt:lpstr>Arial</vt:lpstr>
      <vt:lpstr>SimSun</vt:lpstr>
      <vt:lpstr>Wingdings</vt:lpstr>
      <vt:lpstr>Arial</vt:lpstr>
      <vt:lpstr>Verdana</vt:lpstr>
      <vt:lpstr>Bookman Old Style</vt:lpstr>
      <vt:lpstr>Cambria</vt:lpstr>
      <vt:lpstr>Times New Roman</vt:lpstr>
      <vt:lpstr>Times New Roman Bold</vt:lpstr>
      <vt:lpstr>Wingdings</vt:lpstr>
      <vt:lpstr>Microsoft YaHei</vt:lpstr>
      <vt:lpstr>Arial Unicode MS</vt:lpstr>
      <vt:lpstr>Bioinformatics</vt:lpstr>
      <vt:lpstr>SIH25076 — AI-Based Farmer Query Support and Advisory System</vt:lpstr>
      <vt:lpstr>Content</vt:lpstr>
      <vt:lpstr>Abstract </vt:lpstr>
      <vt:lpstr>Literature Survey </vt:lpstr>
      <vt:lpstr>Objectives :</vt:lpstr>
      <vt:lpstr>Existing Methods &amp; Feasibility Study :</vt:lpstr>
      <vt:lpstr>Proposed Method </vt:lpstr>
      <vt:lpstr>Feasibility Study</vt:lpstr>
      <vt:lpstr>Architecture Diagram</vt:lpstr>
      <vt:lpstr>Modules</vt:lpstr>
      <vt:lpstr>References (IEEE Paper format)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Rakshitha S</cp:lastModifiedBy>
  <cp:revision>59</cp:revision>
  <dcterms:created xsi:type="dcterms:W3CDTF">2026-01-12T11:10:00Z</dcterms:created>
  <dcterms:modified xsi:type="dcterms:W3CDTF">2026-01-13T16:58:45Z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8E3B4085014CF73EAFD66469ECE4FD2C_43</vt:lpwstr>
  </property>
  <property fmtid="{D5CDD505-2E9C-101B-9397-08002B2CF9AE}" pid="3" name="KSOProductBuildVer">
    <vt:lpwstr>1033-12.2.0.23196</vt:lpwstr>
  </property>
</Properties>
</file>